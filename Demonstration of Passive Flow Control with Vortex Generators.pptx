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1" r:id="rId4"/>
    <p:sldId id="258" r:id="rId5"/>
    <p:sldId id="259" r:id="rId6"/>
    <p:sldId id="260" r:id="rId7"/>
    <p:sldId id="265" r:id="rId8"/>
    <p:sldId id="262" r:id="rId9"/>
    <p:sldId id="263" r:id="rId10"/>
    <p:sldId id="272" r:id="rId11"/>
    <p:sldId id="267" r:id="rId12"/>
    <p:sldId id="269" r:id="rId13"/>
    <p:sldId id="270" r:id="rId14"/>
    <p:sldId id="271" r:id="rId15"/>
    <p:sldId id="264" r:id="rId16"/>
    <p:sldId id="266" r:id="rId17"/>
    <p:sldId id="273" r:id="rId18"/>
  </p:sldIdLst>
  <p:sldSz cx="12192000" cy="6858000"/>
  <p:notesSz cx="6858000" cy="9144000"/>
  <p:embeddedFontLst>
    <p:embeddedFont>
      <p:font typeface="Andalus" panose="020B0604020202020204" charset="-78"/>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58DC4A-B0C0-4A64-A47B-D0C43AEFFF97}" v="11" dt="2025-10-26T15:11:20.9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24"/>
  </p:normalViewPr>
  <p:slideViewPr>
    <p:cSldViewPr snapToGrid="0">
      <p:cViewPr varScale="1">
        <p:scale>
          <a:sx n="92" d="100"/>
          <a:sy n="92" d="100"/>
        </p:scale>
        <p:origin x="2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09:12:49.596"/>
    </inkml:context>
    <inkml:brush xml:id="br0">
      <inkml:brushProperty name="width" value="0.35" units="cm"/>
      <inkml:brushProperty name="height" value="0.35" units="cm"/>
      <inkml:brushProperty name="color" value="#FFFFFF"/>
    </inkml:brush>
  </inkml:definitions>
  <inkml:trace contextRef="#ctx0" brushRef="#br0">0 1 24575,'0'76'0,"0"0"0,0-20 0,0 1 0,0 24 0,0-3 0,0 3 0,0-34 0,0-22 0,0-15 0,0-11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09:13:08.013"/>
    </inkml:context>
    <inkml:brush xml:id="br0">
      <inkml:brushProperty name="width" value="0.35" units="cm"/>
      <inkml:brushProperty name="height" value="0.35" units="cm"/>
      <inkml:brushProperty name="color" value="#FFFFFF"/>
    </inkml:brush>
  </inkml:definitions>
  <inkml:trace contextRef="#ctx0" brushRef="#br0">119 111 24575,'0'44'0,"0"-5"0,0-16 0,0-6 0,0-5 0,0-2 0,0 0 0,0-1 0,0 1 0,1-1 0,0 0 0,1 0 0,-1 1 0,-1 1 0,0 0 0,0 0 0,0-1 0,0 0 0,0 1 0,1 1 0,0 2 0,1 2 0,-2 0 0,0 0 0,1-1 0,0-2 0,1 0 0,-1-1 0,-1-1 0,2 0 0,-1 2 0,0-2 0,1 0 0,-1-1 0,0-1 0,0 1 0,0-1 0,0 0 0,0 1 0,0-1 0,1 0 0,-1 1 0,0 1 0,0 0 0,0 1 0,1 1 0,-1 0 0,0 1 0,1 1 0,-1 0 0,0-2 0,0-1 0,-1-1 0,0-2 0,0 0 0,0 0 0,0 3 0,0-4 0,0 3 0,-2 1 0,-2-4 0,-2 5 0,0-6 0,1-1 0,-1 1 0,0-1 0,-2 2 0,2-3 0,-3 4 0,4-3 0,-4 4 0,2-3 0,-1 1 0,-2 0 0,1 0 0,1 1 0,-1 0 0,2-1 0,1 0 0,0-1 0,0-2 0,0 3 0,-1-3 0,31-17 0,-15 7 0,23-17 0,-22 13 0,0 0 0,0 1 0,1 2 0,-1 0 0,2 1 0,12-3 0,15-2 0,14-2 0,6 0 0,-8 3 0,-10 0 0,-12 4 0,-10 1 0,-4 2 0,-3 0 0,0-1 0,1 1 0,1 0 0,5-2 0,10-3 0,8-2 0,9-3 0,0 2 0,-5 1 0,-10 1 0,-12 3 0,-8 0 0,-4 1 0,0-4 0,-3 1 0,2-1 0,-3-3 0,-1 3 0,0-6 0,-1 1 0,2-3 0,0-3 0,0-4 0,-1-2 0,0 2 0,-1 1 0,-1 6 0,0 5 0,0 2 0,-1 2 0,-8-2 0,0 3 0,-6 0 0,4 4 0,0 1 0,1 0 0,2 1 0,-4 0 0,2 0 0,-4 0 0,3 0 0,1 0 0,2 6 0,3 0 0,0 5 0,4-2 0,-1 0 0,1 1 0,0-1 0,0 0 0,0 1 0,0-1 0,0-1 0,12-33 0,-5 14 0,11-26 0,-8 25 0,-1 0 0,-1 2 0,1 0 0,-1 1 0,0 2 0,1 0 0,0-1 0,1 0 0,1 1 0,-1 0 0,-2 2 0,2-2 0,-3 3 0,2-2 0,0 1 0,0 0 0,1-1 0,2-1 0,5-4 0,8-3 0,6-1 0,0-1 0,-6 4 0,-7 5 0,-7 1 0,-3 4 0,2-1 0,5-2 0,6 0 0,11-3 0,3 0 0,1 0 0,-4 2 0,-11 3 0,-5 2 0,-6 1 0,-2 0 0,8-2 0,7-1 0,17-3 0,15-5 0,7-1 0,-3-1 0,-9 4 0,-17 5 0,-10 2 0,-8 2 0,-2 0 0,-2 0 0,1 0 0,-1 0 0,4 0 0,3 0 0,5 0 0,2 0 0,3 0 0,-1 0 0,-2 0 0,-3 0 0,-6 0 0,-3 2 0,-6 0 0,-2 8 0,-3-1 0,0 5 0,-3-5 0,-2-1 0,-2 0 0,-1 0 0,0-1 0,0-1 0,0 0 0,0 0 0,0-1 0,-1 0 0,-2-1 0,-1-1 0,0 0 0,-2-2 0,-1 0 0,-11 1 0,-18-1 0,-24 1 0,-19-1 0,-12-1 0,0 0 0,10 0 0,11-1 0,13-4 0,8-3 0,8-2 0,7-2 0,11 3 0,10 3 0,5 1 0,6 1 0,0 1 0,1 0 0,-1-1 0,-3 0 0,-6-3 0,-8 0 0,-6-2 0,-2 2 0,1 0 0,5 2 0,8 2 0,6 2 0,3 1 0,4 0 0,-3 0 0,27-18 0,-9 7 0,22-14 0,-12 10 0,-1 2 0,-3 3 0,-3 2 0,-5 4 0,2-1 0,-1 2 0,4-4 0,0-1 0,5-2 0,4 0 0,-2 2 0,-3 1 0,-2 2 0,2 0 0,9-2 0,14-3 0,6-3 0,1 1 0,-10 2 0,-11 5 0,-10 3 0,-8 3 0,-14 21 0,-2 15 0,-5 25 0,6 11 0,5 2 0,3-5 0,1-11 0,0-14 0,0-14 0,0-8 0,0-3 0,0-3 0,0 1 0,0-2 0,0-3 0,1-3 0,0 1 0,2 0 0,1 1 0,-1 0 0,2 1 0,0 1 0,0 0 0,-1 0 0,0 0 0,-1-2 0,1 1 0,1 1 0,1-1 0,0 0 0,1-1 0,1-1 0,0 0 0,2 0 0,-1-2 0,0-1 0,1-2 0,-1-2 0,0-2 0,1-1 0,-1-1 0,0 0 0,1 0 0,-1-1 0,0-2 0,2-2 0,0-2 0,1-2 0,0 1 0,1-1 0,5 0 0,5-1 0,4-2 0,2 1 0,-4 1 0,-6 3 0,-5 2 0,-1 0 0,0 2 0,-2 0 0,-1 0 0,0 2 0,3 0 0,5 1 0,6-2 0,5 1 0,-2-1 0,-5 0 0,-6 2 0,-4 0 0,-3 0 0,1 0 0,-1 0 0,2 0 0,-1 1 0,2 0 0,-2 2 0,1 0 0,0 1 0,0-1 0,0-1 0,1 1 0,2-1 0,3 1 0,1-2 0,0 1 0,3 0 0,0-1 0,1 0 0,1-1 0,0 0 0,0 0 0,-2 0 0,-2 0 0,2 0 0,4 0 0,4 0 0,6 0 0,3 0 0,1 0 0,-2 0 0,-4 0 0,-5 0 0,-4 0 0,-1 0 0,-1 0 0,0 0 0,1 0 0,-1 0 0,3 0 0,3 2 0,3-1 0,1 2 0,-1 2 0,-2-2 0,-3 1 0,-2 0 0,-3-1 0,-2 1 0,-2-1 0,0 0 0,1 2 0,1-1 0,1 0 0,3 1 0,3 0 0,4 1 0,5 0 0,5 1 0,6 2 0,9 0 0,11-2 0,5-2 0,0-1 0,-4 0 0,-7-1 0,-4-1 0,1-1 0,-2-1 0,-3 0 0,-6 0 0,-5 0 0,4 1 0,16 1 0,21 0 0,-32-1 0,3 0 0,8-1 0,2 0 0,4 2 0,-1-1 0,1 0 0,-1 0 0,-2 1 0,-2-1 0,-2 0 0,-1 0 0,-6-1 0,-1 0 0,39 0 0,-23 0 0,-24 0 0,-14 0 0,-4 0 0,0 0 0,5 0 0,3 0 0,3 0 0,0 0 0,-5 0 0,-8 0 0,-14 0 0,-4 0 0,-8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09:13:10.565"/>
    </inkml:context>
    <inkml:brush xml:id="br0">
      <inkml:brushProperty name="width" value="0.35" units="cm"/>
      <inkml:brushProperty name="height" value="0.35" units="cm"/>
      <inkml:brushProperty name="color" value="#FFFFFF"/>
    </inkml:brush>
  </inkml:definitions>
  <inkml:trace contextRef="#ctx0" brushRef="#br0">0 398 24575,'58'0'0,"8"0"0,17 0 0,-7 0 0,-21 0 0,-18 0 0,-18 0 0,-9 0 0,-2 0 0,1 2 0,3 0 0,4 1 0,5 1 0,2 1 0,1 1 0,-4 0 0,-5-1 0,-7-2 0,-2 3 0,1 2 0,-1-1 0,3 3 0,-3-3 0,2 2 0,1 1 0,0 2 0,-1 0 0,-1 1 0,-2-2 0,-2-1 0,-1-1 0,-1-1 0,0 3 0,1-4 0,3 4 0,4-7 0,1-1 0,0-3 0,1-7 0,-4-1 0,2-10 0,1-1 0,5-6 0,4-5 0,3-4 0,0 0 0,-5 5 0,-3 6 0,-5 6 0,-4 8 0,-2 2 0,-2-2 0,-1-1 0,1-1 0,-1-1 0,-1 2 0,-1-2 0,-3-2 0,-2-1 0,-3-5 0,0-4 0,0-4 0,2 1 0,-1 4 0,0 5 0,0 4 0,1 1 0,-1 2 0,1 1 0,1 1 0,1 1 0,-2 1 0,2 1 0,-2 1 0,-2-2 0,-2-1 0,4 3 0,0-1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09:13:19.664"/>
    </inkml:context>
    <inkml:brush xml:id="br0">
      <inkml:brushProperty name="width" value="0.35" units="cm"/>
      <inkml:brushProperty name="height" value="0.35" units="cm"/>
      <inkml:brushProperty name="color" value="#FFFFFF"/>
    </inkml:brush>
  </inkml:definitions>
  <inkml:trace contextRef="#ctx0" brushRef="#br0">3937 136 24575,'-51'0'0,"5"0"0,13 0 0,8 0 0,7 0 0,4 0 0,4 0 0,2 0 0,-2-5 0,2 4 0,-3-5 0,0 5 0,-2-1 0,-1-1 0,-6 2 0,-3-1 0,-5 2 0,-2 0 0,2 0 0,6 0 0,6 0 0,7 0 0,4 8 0,3 3 0,1 4 0,1 4 0,0-1 0,0 3 0,0 2 0,0 0 0,1 2 0,2-1 0,5 0 0,4-2 0,2-2 0,1-1 0,0-1 0,-2-2 0,0-2 0,-2-4 0,-4-2 0,-1-3 0,0 2 0,-24 1 0,8-2 0,-27-1 0,-20-5 0,-29 0 0,-12 0 0,8 0 0,33 0 0,25 0 0,15 0 0,9 0 0,3-1 0,-10 0 0,2 0 0,-12 0 0,5 1 0,-3 0 0,2 0 0,0 0 0,2 0 0,1 0 0,4 0 0,3 0 0,2-1 0,2-2 0,-5-3 0,3 1 0,-5-3 0,0 4 0,-3 0 0,-5 0 0,-5 1 0,-3 0 0,-3 2 0,4 1 0,3 0 0,7 0 0,4 0 0,0 0 0,0 0 0,-4 0 0,-7 0 0,-13 0 0,-9 0 0,-8 0 0,-4 2 0,3 0 0,5 1 0,6 2 0,6-1 0,6 1 0,1-1 0,0 0 0,-3 0 0,-5 1 0,-6 0 0,-2-1 0,-2 2 0,-1 0 0,0 1 0,4-1 0,3 0 0,1-3 0,0-1 0,-4-1 0,-3-1 0,-3 0 0,-1 0 0,1 0 0,2 0 0,2 0 0,2 0 0,3 0 0,2 0 0,4 0 0,-3 0 0,-2 0 0,-5 0 0,-5 0 0,-3 0 0,-3 0 0,-4-1 0,-1-2 0,-3-2 0,1-2 0,3-1 0,2-2 0,4-1 0,4 0 0,6 2 0,11 1 0,11 2 0,10 1 0,5-1 0,3 1 0,0-1 0,1 1 0,-1-2 0,4-2 0,0-1 0,3-1 0,2 1 0,2 2 0,5 0 0,3 1 0,3 2 0,1 1 0,-2 3 0,0 1 0,0 0 0,5-2 0,4 1 0,7-2 0,7-3 0,10-2 0,9-5 0,4-1 0,-2 0 0,-12 3 0,-10 2 0,-11 0 0,-5 1 0,-1 0 0,-2 0 0,-1 1 0,-1 0 0,-3 1 0,-1 2 0,-1 1 0,-1 0 0,0-1 0,0 0 0,1-1 0,1 1 0,-1 1 0,0-1 0,1 1 0,-1-1 0,0 0 0,0 0 0,1 1 0,-1 0 0,0-1 0,1 0 0,-1 1 0,0 0 0,2 0 0,1-1 0,0 1 0,2 0 0,0 0 0,0 0 0,1 1 0,-3-1 0,0 0 0,1 0 0,1 0 0,3 0 0,1 0 0,2-1 0,2 0 0,1-1 0,2 1 0,1 0 0,-1 0 0,-1-1 0,-2 1 0,1 0 0,-2 1 0,-1 0 0,-2 0 0,-4 2 0,0 0 0,0 0 0,0-1 0,4 0 0,1-2 0,3-1 0,3 1 0,2-1 0,0 1 0,-2 0 0,-2 1 0,-4 0 0,-5 2 0,-3 0 0,-1 1 0,-1 0 0,2 0 0,-1 0 0,3 0 0,-2 0 0,3-2 0,2 1 0,2-1 0,0 1 0,-2 1 0,-3 0 0,-2 0 0,-2 0 0,1 0 0,-1 0 0,0 0 0,1 0 0,-1 0 0,0 0 0,0 0 0,0 4 0,-8 7 0,0-3 0,-7 5 0,-1-6 0,-1 1 0,-2 1 0,2-2 0,0 1 0,1-2 0,0 1 0,0-1 0,0 2 0,2-3 0,-3 5 0,5-4 0,-1 4 0,3 0 0,1 0 0,0 0 0,11-2 0,4-4 0,17-3 0,6-1 0,7 0 0,5 0 0,-2 1 0,-4 1 0,-9 0 0,-12-1 0,-5-1 0,-6 0 0,-2 0 0,-2 0 0,4 0 0,-3 0 0,4 0 0,-1 0 0,5 0 0,8 0 0,7 0 0,3 0 0,-1 0 0,-2 0 0,-3 0 0,-3 0 0,-4 0 0,-2 0 0,-1 0 0,1 0 0,5 0 0,3 0 0,3 0 0,-2 0 0,-4 0 0,-4 0 0,-5 0 0,-3 0 0,-2 0 0,-2 0 0,2 0 0,1 0 0,0 0 0,2 0 0,1 0 0,2 0 0,5 0 0,4 0 0,0 0 0,-1 0 0,-5 0 0,-6 0 0,-3 0 0,-2 0 0,0 0 0,1 0 0,-2 1 0,3 0 0,-2 2 0,2 0 0,-2 0 0,-1 0 0,3 1 0,5 1 0,8 2 0,7 2 0,4 1 0,-1-1 0,-5-1 0,-6-2 0,-6-1 0,-4-1 0,-4-1 0,-2 0 0,2 1 0,0 0 0,1 0 0,-1 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60A79-A079-5A74-FBCC-2291A99672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205E78-D6D0-CCB4-B7FC-AD7AE93E4B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3C9C65-CCC8-05A1-694A-941146B9A514}"/>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B021B32A-5FE1-BD25-7ED3-31304A7A3D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03FBAE-3ED0-5C75-CD06-2514D1EC76ED}"/>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103716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0A76-C2A0-7A7D-0C00-DFFA9D8866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14E2DA-7965-8555-88B4-5CD56F9F5D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07B7A-673D-0346-C116-D1D9DE5E848A}"/>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62BEA69D-D9AA-95C8-B56C-552E01F610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B02EB2-8945-8F24-4383-AA22D8C28B8A}"/>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105990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807C-4B8A-80ED-0E24-47F34C24B2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D34C46-5A17-1FA2-4659-9EC074DE96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EA1354-7313-167E-D850-D5E915205B25}"/>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8531FB20-1D2B-166C-BA21-33E5C09E67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1097CB-69EE-5AF3-E9D2-EB30C5758738}"/>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1202139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05486-1CA9-E7F3-FA45-0DA99648F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C0F983-109D-5792-4E36-1D27AD8E66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D243F2-AA77-9AF2-2980-E5A61AE814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4CF188-5423-2814-4A3B-9B71DD6104D4}"/>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6" name="Footer Placeholder 5">
            <a:extLst>
              <a:ext uri="{FF2B5EF4-FFF2-40B4-BE49-F238E27FC236}">
                <a16:creationId xmlns:a16="http://schemas.microsoft.com/office/drawing/2014/main" id="{002101CE-FFF3-D7DC-02AA-6D3A07DE8B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FDD4B1-E3D1-691A-96AD-D0EBD3F0DD0D}"/>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470941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7BFD5-B325-2F90-7532-E60F62FB8D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C42410-39F4-86D4-F0B8-9D62D3064A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13DD80-1D90-688E-6CC3-979325B392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8B512E-DFA0-9F85-08E9-C6E96D0340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06D90-48B6-C52A-A82B-C5AD9DCBE2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D76E58-DD49-B788-954C-30899C87FA7F}"/>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8" name="Footer Placeholder 7">
            <a:extLst>
              <a:ext uri="{FF2B5EF4-FFF2-40B4-BE49-F238E27FC236}">
                <a16:creationId xmlns:a16="http://schemas.microsoft.com/office/drawing/2014/main" id="{F8B04B1A-774C-95C7-8B86-4B5059E461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90F288-C79E-7F74-6E7A-DC95391E9DC0}"/>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2464486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5718-D858-5891-82B0-4170D43310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368685-7393-A345-FB26-D05623A6C271}"/>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4" name="Footer Placeholder 3">
            <a:extLst>
              <a:ext uri="{FF2B5EF4-FFF2-40B4-BE49-F238E27FC236}">
                <a16:creationId xmlns:a16="http://schemas.microsoft.com/office/drawing/2014/main" id="{C46EE372-020A-60C2-EE72-0B3B201C38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D3A28B-A9E4-F895-92C0-94B876DE6E3F}"/>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1405234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DF00C1-0205-8883-6AE3-739B887672EA}"/>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3" name="Footer Placeholder 2">
            <a:extLst>
              <a:ext uri="{FF2B5EF4-FFF2-40B4-BE49-F238E27FC236}">
                <a16:creationId xmlns:a16="http://schemas.microsoft.com/office/drawing/2014/main" id="{55F1F03A-BACF-C581-BABC-2B40AF47D0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3A2BDC2-63EE-547A-871D-104A30138900}"/>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602068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F19A-E6A8-EA1C-7A2E-40F86C381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6E7450-391B-667C-6CE1-22637DFBBF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87CFDC-641C-7869-E47C-F334BB7BC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873363-51ED-7C67-153C-507ED495A6F3}"/>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6" name="Footer Placeholder 5">
            <a:extLst>
              <a:ext uri="{FF2B5EF4-FFF2-40B4-BE49-F238E27FC236}">
                <a16:creationId xmlns:a16="http://schemas.microsoft.com/office/drawing/2014/main" id="{CEC17A6C-CCA2-090D-0BA0-328306008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A5DAFB-CABE-8D2C-2643-F7635C9D31FF}"/>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419650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9F048-5A14-E401-B648-DCEB20533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BD488A-8C3D-9B6C-F080-F1ABD2328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A18A2E-DC6E-91E1-02CB-AA5451363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C6AC4-B085-2473-9935-240E7FC47174}"/>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6" name="Footer Placeholder 5">
            <a:extLst>
              <a:ext uri="{FF2B5EF4-FFF2-40B4-BE49-F238E27FC236}">
                <a16:creationId xmlns:a16="http://schemas.microsoft.com/office/drawing/2014/main" id="{004A832B-DC16-1845-E880-5151D38E0D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93F5FE-E57F-2B08-907C-C275AFD2B952}"/>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1282854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5B3B-87FE-E0A9-7992-08DE765A5A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D541B7-3894-DEEF-6CB0-A6745D4880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BEEAD-2A93-7245-F7FA-454F9DBE8A8C}"/>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031A1526-FBFA-780D-7D91-25D2A2077E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8F450-6F35-AED8-18F8-D065F27C9C25}"/>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2732909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B07A97-912F-7274-8692-4CAEE24CCC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934C6F-69D6-B96D-6D7D-D7145CA1C6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20ED11-2C23-4B15-8673-88BDD316987A}"/>
              </a:ext>
            </a:extLst>
          </p:cNvPr>
          <p:cNvSpPr>
            <a:spLocks noGrp="1"/>
          </p:cNvSpPr>
          <p:nvPr>
            <p:ph type="dt" sz="half" idx="10"/>
          </p:nvPr>
        </p:nvSpPr>
        <p:spPr/>
        <p:txBody>
          <a:body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8785CBD1-9870-F51E-4F08-C096357348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FCB06-A4BE-F762-7560-0C7469A26F81}"/>
              </a:ext>
            </a:extLst>
          </p:cNvPr>
          <p:cNvSpPr>
            <a:spLocks noGrp="1"/>
          </p:cNvSpPr>
          <p:nvPr>
            <p:ph type="sldNum" sz="quarter" idx="12"/>
          </p:nvPr>
        </p:nvSpPr>
        <p:spPr/>
        <p:txBody>
          <a:bodyPr/>
          <a:lstStyle/>
          <a:p>
            <a:fld id="{4E5F41B1-60F8-4496-AE1B-EB1FB726FECE}" type="slidenum">
              <a:rPr lang="en-IN" smtClean="0"/>
              <a:t>‹#›</a:t>
            </a:fld>
            <a:endParaRPr lang="en-IN"/>
          </a:p>
        </p:txBody>
      </p:sp>
    </p:spTree>
    <p:extLst>
      <p:ext uri="{BB962C8B-B14F-4D97-AF65-F5344CB8AC3E}">
        <p14:creationId xmlns:p14="http://schemas.microsoft.com/office/powerpoint/2010/main" val="222151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76D0C9-0112-C15E-7188-77ECD264B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D03915-5C93-9974-0E2A-0D49C1E483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25655E-42BA-5BCD-BF5D-7529248E95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AE8CBB-1B1F-4E2F-AEF7-5EC63E49CFCA}" type="datetimeFigureOut">
              <a:rPr lang="en-IN" smtClean="0"/>
              <a:t>27-10-2025</a:t>
            </a:fld>
            <a:endParaRPr lang="en-IN"/>
          </a:p>
        </p:txBody>
      </p:sp>
      <p:sp>
        <p:nvSpPr>
          <p:cNvPr id="5" name="Footer Placeholder 4">
            <a:extLst>
              <a:ext uri="{FF2B5EF4-FFF2-40B4-BE49-F238E27FC236}">
                <a16:creationId xmlns:a16="http://schemas.microsoft.com/office/drawing/2014/main" id="{D384ADD6-F9D0-8AA7-1FE8-9ABE2EB7E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D63752-D21F-E33E-B8CC-E24073EAB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F41B1-60F8-4496-AE1B-EB1FB726FECE}" type="slidenum">
              <a:rPr lang="en-IN" smtClean="0"/>
              <a:t>‹#›</a:t>
            </a:fld>
            <a:endParaRPr lang="en-IN"/>
          </a:p>
        </p:txBody>
      </p:sp>
    </p:spTree>
    <p:extLst>
      <p:ext uri="{BB962C8B-B14F-4D97-AF65-F5344CB8AC3E}">
        <p14:creationId xmlns:p14="http://schemas.microsoft.com/office/powerpoint/2010/main" val="1283845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71AC-5C11-2445-9C30-6158B0177222}"/>
              </a:ext>
            </a:extLst>
          </p:cNvPr>
          <p:cNvSpPr>
            <a:spLocks noGrp="1"/>
          </p:cNvSpPr>
          <p:nvPr>
            <p:ph type="ctrTitle"/>
          </p:nvPr>
        </p:nvSpPr>
        <p:spPr>
          <a:xfrm>
            <a:off x="1524000" y="1854199"/>
            <a:ext cx="9144000" cy="1655763"/>
          </a:xfrm>
        </p:spPr>
        <p:txBody>
          <a:bodyPr>
            <a:normAutofit fontScale="90000"/>
          </a:bodyPr>
          <a:lstStyle/>
          <a:p>
            <a:r>
              <a:rPr lang="en-US" dirty="0">
                <a:latin typeface="Andalus" panose="02020603050405020304" pitchFamily="18" charset="-78"/>
                <a:cs typeface="Andalus" panose="02020603050405020304" pitchFamily="18" charset="-78"/>
              </a:rPr>
              <a:t>Demonstration of Passive Flow Control with Vortex Generators</a:t>
            </a:r>
            <a:endParaRPr lang="en-IN" dirty="0">
              <a:latin typeface="Andalus" panose="02020603050405020304" pitchFamily="18" charset="-78"/>
              <a:cs typeface="Andalus" panose="02020603050405020304" pitchFamily="18" charset="-78"/>
            </a:endParaRPr>
          </a:p>
        </p:txBody>
      </p:sp>
      <p:sp>
        <p:nvSpPr>
          <p:cNvPr id="3" name="Subtitle 2">
            <a:extLst>
              <a:ext uri="{FF2B5EF4-FFF2-40B4-BE49-F238E27FC236}">
                <a16:creationId xmlns:a16="http://schemas.microsoft.com/office/drawing/2014/main" id="{4F11435F-0759-FEDE-DE05-295E017C46E0}"/>
              </a:ext>
            </a:extLst>
          </p:cNvPr>
          <p:cNvSpPr>
            <a:spLocks noGrp="1"/>
          </p:cNvSpPr>
          <p:nvPr>
            <p:ph type="subTitle" idx="1"/>
          </p:nvPr>
        </p:nvSpPr>
        <p:spPr/>
        <p:txBody>
          <a:bodyPr>
            <a:normAutofit fontScale="92500" lnSpcReduction="10000"/>
          </a:bodyPr>
          <a:lstStyle/>
          <a:p>
            <a:pPr algn="r"/>
            <a:endParaRPr lang="en-US" dirty="0">
              <a:latin typeface="Andalus" panose="02020603050405020304" pitchFamily="18" charset="-78"/>
              <a:cs typeface="Andalus" panose="02020603050405020304" pitchFamily="18" charset="-78"/>
            </a:endParaRPr>
          </a:p>
          <a:p>
            <a:pPr algn="r"/>
            <a:r>
              <a:rPr lang="en-US" dirty="0">
                <a:latin typeface="Andalus" panose="02020603050405020304" pitchFamily="18" charset="-78"/>
                <a:cs typeface="Andalus" panose="02020603050405020304" pitchFamily="18" charset="-78"/>
              </a:rPr>
              <a:t>MD MANSOOR ALAM-24BME0562</a:t>
            </a:r>
          </a:p>
          <a:p>
            <a:pPr algn="r"/>
            <a:r>
              <a:rPr lang="en-US" dirty="0">
                <a:latin typeface="Andalus" panose="02020603050405020304" pitchFamily="18" charset="-78"/>
                <a:cs typeface="Andalus" panose="02020603050405020304" pitchFamily="18" charset="-78"/>
              </a:rPr>
              <a:t>                                                    MASHKUR INAB-24BMV0068</a:t>
            </a:r>
          </a:p>
          <a:p>
            <a:pPr algn="r"/>
            <a:r>
              <a:rPr lang="en-US" dirty="0">
                <a:latin typeface="Andalus" panose="02020603050405020304" pitchFamily="18" charset="-78"/>
                <a:cs typeface="Andalus" panose="02020603050405020304" pitchFamily="18" charset="-78"/>
              </a:rPr>
              <a:t>SRIDHAR HARISH-24BMV0073</a:t>
            </a:r>
            <a:endParaRPr lang="en-IN"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861139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6DF09-D388-A58B-8996-9EE73448B8FE}"/>
              </a:ext>
            </a:extLst>
          </p:cNvPr>
          <p:cNvSpPr>
            <a:spLocks noGrp="1"/>
          </p:cNvSpPr>
          <p:nvPr>
            <p:ph type="title"/>
          </p:nvPr>
        </p:nvSpPr>
        <p:spPr>
          <a:xfrm>
            <a:off x="838200" y="365125"/>
            <a:ext cx="10515600" cy="1289939"/>
          </a:xfrm>
        </p:spPr>
        <p:txBody>
          <a:bodyPr/>
          <a:lstStyle/>
          <a:p>
            <a:r>
              <a:rPr lang="en-US" dirty="0">
                <a:latin typeface="Andalus" panose="02020603050405020304" pitchFamily="18" charset="-78"/>
                <a:cs typeface="Andalus" panose="02020603050405020304" pitchFamily="18" charset="-78"/>
              </a:rPr>
              <a:t>AIM OF THE PROJECT - </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578C3DDC-C42D-AE3E-D9F1-44B010A3F1AA}"/>
              </a:ext>
            </a:extLst>
          </p:cNvPr>
          <p:cNvSpPr>
            <a:spLocks noGrp="1"/>
          </p:cNvSpPr>
          <p:nvPr>
            <p:ph idx="1"/>
          </p:nvPr>
        </p:nvSpPr>
        <p:spPr>
          <a:xfrm>
            <a:off x="600456" y="1655064"/>
            <a:ext cx="10515600" cy="4430459"/>
          </a:xfrm>
        </p:spPr>
        <p:txBody>
          <a:bodyPr/>
          <a:lstStyle/>
          <a:p>
            <a:pPr marL="0" indent="0">
              <a:buNone/>
            </a:pPr>
            <a:r>
              <a:rPr lang="en-US" dirty="0">
                <a:latin typeface="Andalus" panose="02020603050405020304" pitchFamily="18" charset="-78"/>
                <a:cs typeface="Andalus" panose="02020603050405020304" pitchFamily="18" charset="-78"/>
              </a:rPr>
              <a:t>To design, build and demonstrate a passive boundary-layer control system using small vortex generators on paper wings that-</a:t>
            </a:r>
          </a:p>
          <a:p>
            <a:r>
              <a:rPr lang="en-US" dirty="0">
                <a:latin typeface="Andalus" panose="02020603050405020304" pitchFamily="18" charset="-78"/>
                <a:cs typeface="Andalus" panose="02020603050405020304" pitchFamily="18" charset="-78"/>
              </a:rPr>
              <a:t> delays flow separation</a:t>
            </a:r>
          </a:p>
          <a:p>
            <a:r>
              <a:rPr lang="en-US" dirty="0">
                <a:latin typeface="Andalus" panose="02020603050405020304" pitchFamily="18" charset="-78"/>
                <a:cs typeface="Andalus" panose="02020603050405020304" pitchFamily="18" charset="-78"/>
              </a:rPr>
              <a:t> improves lift</a:t>
            </a:r>
          </a:p>
          <a:p>
            <a:r>
              <a:rPr lang="en-US" dirty="0">
                <a:latin typeface="Andalus" panose="02020603050405020304" pitchFamily="18" charset="-78"/>
                <a:cs typeface="Andalus" panose="02020603050405020304" pitchFamily="18" charset="-78"/>
              </a:rPr>
              <a:t> reduces drag</a:t>
            </a:r>
          </a:p>
          <a:p>
            <a:r>
              <a:rPr lang="en-US" dirty="0">
                <a:latin typeface="Andalus" panose="02020603050405020304" pitchFamily="18" charset="-78"/>
                <a:cs typeface="Andalus" panose="02020603050405020304" pitchFamily="18" charset="-78"/>
              </a:rPr>
              <a:t>quantify the aerodynamic effects through visualization and force   measurements.</a:t>
            </a:r>
            <a:endParaRPr lang="en-IN"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524843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88DB-28D8-5B6A-E506-F22CB8A16197}"/>
              </a:ext>
            </a:extLst>
          </p:cNvPr>
          <p:cNvSpPr>
            <a:spLocks noGrp="1"/>
          </p:cNvSpPr>
          <p:nvPr>
            <p:ph type="title"/>
          </p:nvPr>
        </p:nvSpPr>
        <p:spPr>
          <a:xfrm>
            <a:off x="600456" y="404419"/>
            <a:ext cx="11219688" cy="1133855"/>
          </a:xfrm>
        </p:spPr>
        <p:txBody>
          <a:bodyPr/>
          <a:lstStyle/>
          <a:p>
            <a:r>
              <a:rPr lang="en-US" dirty="0">
                <a:latin typeface="Andalus" panose="02020603050405020304" pitchFamily="18" charset="-78"/>
                <a:cs typeface="Andalus" panose="02020603050405020304" pitchFamily="18" charset="-78"/>
              </a:rPr>
              <a:t>OBJECTIVE OF PROJECT-</a:t>
            </a:r>
            <a:endParaRPr lang="en-IN" dirty="0">
              <a:latin typeface="Andalus" panose="02020603050405020304" pitchFamily="18" charset="-78"/>
              <a:cs typeface="Andalus" panose="02020603050405020304" pitchFamily="18" charset="-78"/>
            </a:endParaRPr>
          </a:p>
        </p:txBody>
      </p:sp>
      <p:sp>
        <p:nvSpPr>
          <p:cNvPr id="4" name="Rectangle 1">
            <a:extLst>
              <a:ext uri="{FF2B5EF4-FFF2-40B4-BE49-F238E27FC236}">
                <a16:creationId xmlns:a16="http://schemas.microsoft.com/office/drawing/2014/main" id="{4871716E-E55A-16E0-5FED-04B8B273BC30}"/>
              </a:ext>
            </a:extLst>
          </p:cNvPr>
          <p:cNvSpPr>
            <a:spLocks noGrp="1" noChangeArrowheads="1"/>
          </p:cNvSpPr>
          <p:nvPr>
            <p:ph idx="1"/>
          </p:nvPr>
        </p:nvSpPr>
        <p:spPr bwMode="auto">
          <a:xfrm>
            <a:off x="664464" y="2188656"/>
            <a:ext cx="1007973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Design</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vortex generators suited for small-scale paper wing models (define shape, size, angle</a:t>
            </a:r>
            <a:r>
              <a:rPr lang="en-US" altLang="en-US" sz="2400" dirty="0">
                <a:latin typeface="Andalus" panose="02020603050405020304" pitchFamily="18" charset="-78"/>
                <a:cs typeface="Andalus" panose="02020603050405020304" pitchFamily="18" charset="-78"/>
              </a:rPr>
              <a:t> </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and placement) and fabricate them reproducibly.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Demonstrate</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flow modification by visualizing boundary-layer behavior (tufts/smoke/dye)</a:t>
            </a:r>
            <a:r>
              <a:rPr lang="en-US" altLang="en-US" sz="2400" dirty="0">
                <a:latin typeface="Andalus" panose="02020603050405020304" pitchFamily="18" charset="-78"/>
                <a:cs typeface="Andalus" panose="02020603050405020304" pitchFamily="18" charset="-78"/>
              </a:rPr>
              <a:t> </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on a baseline wing and on the wing with VGs.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Measure</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performance changes by recording lift and drag over a range of angles of attack</a:t>
            </a:r>
            <a:r>
              <a:rPr lang="en-US" altLang="en-US" sz="2400" dirty="0">
                <a:latin typeface="Andalus" panose="02020603050405020304" pitchFamily="18" charset="-78"/>
                <a:cs typeface="Andalus" panose="02020603050405020304" pitchFamily="18" charset="-78"/>
              </a:rPr>
              <a:t> </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(AoA) for baseline vs. VG-equipped wings.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Report</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results with photos/plots, error estimates, and recommendations for optimal VG  geometry/placement.</a:t>
            </a:r>
          </a:p>
        </p:txBody>
      </p:sp>
    </p:spTree>
    <p:extLst>
      <p:ext uri="{BB962C8B-B14F-4D97-AF65-F5344CB8AC3E}">
        <p14:creationId xmlns:p14="http://schemas.microsoft.com/office/powerpoint/2010/main" val="1518337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348DD-17BD-24A8-6508-DB4FC8402443}"/>
              </a:ext>
            </a:extLst>
          </p:cNvPr>
          <p:cNvSpPr>
            <a:spLocks noGrp="1"/>
          </p:cNvSpPr>
          <p:nvPr>
            <p:ph type="title"/>
          </p:nvPr>
        </p:nvSpPr>
        <p:spPr>
          <a:xfrm>
            <a:off x="838200" y="365125"/>
            <a:ext cx="10515600" cy="988187"/>
          </a:xfrm>
        </p:spPr>
        <p:txBody>
          <a:bodyPr/>
          <a:lstStyle/>
          <a:p>
            <a:r>
              <a:rPr lang="en-US" dirty="0">
                <a:latin typeface="Andalus" panose="02020603050405020304" pitchFamily="18" charset="-78"/>
                <a:cs typeface="Andalus" panose="02020603050405020304" pitchFamily="18" charset="-78"/>
              </a:rPr>
              <a:t>PRINCIPLES OF THE PROJECT-</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774C18B6-BB91-B8C5-37EB-A2E6CA463306}"/>
              </a:ext>
            </a:extLst>
          </p:cNvPr>
          <p:cNvSpPr>
            <a:spLocks noGrp="1"/>
          </p:cNvSpPr>
          <p:nvPr>
            <p:ph idx="1"/>
          </p:nvPr>
        </p:nvSpPr>
        <p:spPr>
          <a:xfrm>
            <a:off x="838200" y="2011680"/>
            <a:ext cx="10515600" cy="4165283"/>
          </a:xfrm>
        </p:spPr>
        <p:txBody>
          <a:bodyPr/>
          <a:lstStyle/>
          <a:p>
            <a:pPr marL="0" indent="0">
              <a:buNone/>
            </a:pPr>
            <a:r>
              <a:rPr lang="en-US" dirty="0">
                <a:latin typeface="Andalus" panose="02020603050405020304" pitchFamily="18" charset="-78"/>
                <a:cs typeface="Andalus" panose="02020603050405020304" pitchFamily="18" charset="-78"/>
              </a:rPr>
              <a:t>1. FLOW SEPARATION-</a:t>
            </a:r>
          </a:p>
          <a:p>
            <a:pPr marL="0" indent="0">
              <a:buNone/>
            </a:pPr>
            <a:r>
              <a:rPr lang="en-US" sz="2400" dirty="0">
                <a:latin typeface="Andalus" panose="02020603050405020304" pitchFamily="18" charset="-78"/>
                <a:cs typeface="Andalus" panose="02020603050405020304" pitchFamily="18" charset="-78"/>
              </a:rPr>
              <a:t>Flow separation happens when the smooth airflow moving over a surface (boundary layer) like a wing losses energy and can no longer stay attached to that surface.</a:t>
            </a:r>
          </a:p>
          <a:p>
            <a:pPr marL="0" indent="0">
              <a:buNone/>
            </a:pPr>
            <a:r>
              <a:rPr lang="en-US" dirty="0">
                <a:latin typeface="Andalus" panose="02020603050405020304" pitchFamily="18" charset="-78"/>
                <a:cs typeface="Andalus" panose="02020603050405020304" pitchFamily="18" charset="-78"/>
              </a:rPr>
              <a:t>SIGNIFICANCE- </a:t>
            </a:r>
          </a:p>
          <a:p>
            <a:pPr marL="0" indent="0">
              <a:buNone/>
            </a:pPr>
            <a:r>
              <a:rPr lang="en-IN" sz="2400" dirty="0">
                <a:latin typeface="Andalus" panose="02020603050405020304" pitchFamily="18" charset="-78"/>
                <a:cs typeface="Andalus" panose="02020603050405020304" pitchFamily="18" charset="-78"/>
              </a:rPr>
              <a:t>When separation occurs, lift drops sharply (because smooth airflow is disrupted).</a:t>
            </a:r>
          </a:p>
          <a:p>
            <a:pPr marL="0" indent="0">
              <a:buNone/>
            </a:pPr>
            <a:r>
              <a:rPr lang="en-IN" sz="2400" dirty="0">
                <a:latin typeface="Andalus" panose="02020603050405020304" pitchFamily="18" charset="-78"/>
                <a:cs typeface="Andalus" panose="02020603050405020304" pitchFamily="18" charset="-78"/>
              </a:rPr>
              <a:t>Drag increases dramatically (due to large wake and pressure drag).</a:t>
            </a:r>
          </a:p>
          <a:p>
            <a:pPr marL="0" indent="0">
              <a:buNone/>
            </a:pPr>
            <a:r>
              <a:rPr lang="en-IN" sz="2400" dirty="0">
                <a:latin typeface="Andalus" panose="02020603050405020304" pitchFamily="18" charset="-78"/>
                <a:cs typeface="Andalus" panose="02020603050405020304" pitchFamily="18" charset="-78"/>
              </a:rPr>
              <a:t>The wing can stall meaning it can’t produce enough lift to support itself.</a:t>
            </a:r>
          </a:p>
        </p:txBody>
      </p:sp>
    </p:spTree>
    <p:extLst>
      <p:ext uri="{BB962C8B-B14F-4D97-AF65-F5344CB8AC3E}">
        <p14:creationId xmlns:p14="http://schemas.microsoft.com/office/powerpoint/2010/main" val="633886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046E-0849-6B6C-DD3E-B80CE221FAFD}"/>
              </a:ext>
            </a:extLst>
          </p:cNvPr>
          <p:cNvSpPr>
            <a:spLocks noGrp="1"/>
          </p:cNvSpPr>
          <p:nvPr>
            <p:ph type="title"/>
          </p:nvPr>
        </p:nvSpPr>
        <p:spPr>
          <a:xfrm>
            <a:off x="838200" y="-1555115"/>
            <a:ext cx="10515600" cy="1325563"/>
          </a:xfrm>
        </p:spPr>
        <p:txBody>
          <a:bodyPr/>
          <a:lstStyle/>
          <a:p>
            <a:endParaRPr lang="en-IN" dirty="0"/>
          </a:p>
        </p:txBody>
      </p:sp>
      <p:sp>
        <p:nvSpPr>
          <p:cNvPr id="3" name="Content Placeholder 2">
            <a:extLst>
              <a:ext uri="{FF2B5EF4-FFF2-40B4-BE49-F238E27FC236}">
                <a16:creationId xmlns:a16="http://schemas.microsoft.com/office/drawing/2014/main" id="{03586464-8494-367A-D104-BC4829B80AB2}"/>
              </a:ext>
            </a:extLst>
          </p:cNvPr>
          <p:cNvSpPr>
            <a:spLocks noGrp="1"/>
          </p:cNvSpPr>
          <p:nvPr>
            <p:ph idx="1"/>
          </p:nvPr>
        </p:nvSpPr>
        <p:spPr>
          <a:xfrm>
            <a:off x="838200" y="254000"/>
            <a:ext cx="10515600" cy="5922963"/>
          </a:xfrm>
        </p:spPr>
        <p:txBody>
          <a:bodyPr/>
          <a:lstStyle/>
          <a:p>
            <a:pPr marL="0" indent="0">
              <a:buNone/>
            </a:pPr>
            <a:r>
              <a:rPr lang="en-US" dirty="0">
                <a:latin typeface="Andalus" panose="02020603050405020304" pitchFamily="18" charset="-78"/>
                <a:cs typeface="Andalus" panose="02020603050405020304" pitchFamily="18" charset="-78"/>
              </a:rPr>
              <a:t>2. LIFT – </a:t>
            </a:r>
          </a:p>
          <a:p>
            <a:pPr marL="0" indent="0">
              <a:buNone/>
            </a:pPr>
            <a:r>
              <a:rPr lang="en-US" sz="2400" dirty="0">
                <a:latin typeface="Andalus" panose="02020603050405020304" pitchFamily="18" charset="-78"/>
                <a:cs typeface="Andalus" panose="02020603050405020304" pitchFamily="18" charset="-78"/>
              </a:rPr>
              <a:t>Lift is the upward aerodynamic force that acts perpendicular to the relative airflow over a wing.</a:t>
            </a:r>
          </a:p>
          <a:p>
            <a:pPr marL="0" indent="0">
              <a:buNone/>
            </a:pPr>
            <a:r>
              <a:rPr lang="en-US" sz="2400" dirty="0">
                <a:latin typeface="Andalus" panose="02020603050405020304" pitchFamily="18" charset="-78"/>
                <a:cs typeface="Andalus" panose="02020603050405020304" pitchFamily="18" charset="-78"/>
              </a:rPr>
              <a:t>It is generated due to pressure difference between upper and lower surface pressure difference.</a:t>
            </a:r>
          </a:p>
          <a:p>
            <a:pPr marL="0" indent="0">
              <a:buNone/>
            </a:pPr>
            <a:r>
              <a:rPr lang="en-US" sz="2400" dirty="0">
                <a:latin typeface="Andalus" panose="02020603050405020304" pitchFamily="18" charset="-78"/>
                <a:cs typeface="Andalus" panose="02020603050405020304" pitchFamily="18" charset="-78"/>
              </a:rPr>
              <a:t>Air travels faster over the curved top – hence low pressure, whereas it travels slower under the wing – hence high pressure.</a:t>
            </a:r>
          </a:p>
          <a:p>
            <a:pPr marL="0" indent="0">
              <a:buNone/>
            </a:pPr>
            <a:r>
              <a:rPr lang="en-US" sz="2400" dirty="0">
                <a:latin typeface="Andalus" panose="02020603050405020304" pitchFamily="18" charset="-78"/>
                <a:cs typeface="Andalus" panose="02020603050405020304" pitchFamily="18" charset="-78"/>
              </a:rPr>
              <a:t>This pressure difference pushes the wing upward.</a:t>
            </a:r>
          </a:p>
          <a:p>
            <a:pPr marL="0" indent="0">
              <a:buNone/>
            </a:pPr>
            <a:r>
              <a:rPr lang="en-US" dirty="0">
                <a:latin typeface="Andalus" panose="02020603050405020304" pitchFamily="18" charset="-78"/>
                <a:cs typeface="Andalus" panose="02020603050405020304" pitchFamily="18" charset="-78"/>
              </a:rPr>
              <a:t>EFFECTS OF FLOW SEPERATION –</a:t>
            </a:r>
          </a:p>
          <a:p>
            <a:pPr marL="0" indent="0">
              <a:buNone/>
            </a:pPr>
            <a:r>
              <a:rPr lang="en-US" dirty="0">
                <a:latin typeface="Andalus" panose="02020603050405020304" pitchFamily="18" charset="-78"/>
                <a:cs typeface="Andalus" panose="02020603050405020304" pitchFamily="18" charset="-78"/>
              </a:rPr>
              <a:t>As angle of attack increases, lift increases till the stall angle.</a:t>
            </a:r>
          </a:p>
          <a:p>
            <a:pPr marL="0" indent="0">
              <a:buNone/>
            </a:pPr>
            <a:r>
              <a:rPr lang="en-US" dirty="0">
                <a:latin typeface="Andalus" panose="02020603050405020304" pitchFamily="18" charset="-78"/>
                <a:cs typeface="Andalus" panose="02020603050405020304" pitchFamily="18" charset="-78"/>
              </a:rPr>
              <a:t>When it passes the stall angle the flow separates,  and lift drops rapidly.</a:t>
            </a:r>
          </a:p>
          <a:p>
            <a:pPr marL="0" indent="0">
              <a:buNone/>
            </a:pPr>
            <a:endParaRPr lang="en-US" sz="2400" dirty="0">
              <a:latin typeface="Andalus" panose="02020603050405020304" pitchFamily="18" charset="-78"/>
              <a:cs typeface="Andalus" panose="02020603050405020304" pitchFamily="18" charset="-78"/>
            </a:endParaRPr>
          </a:p>
          <a:p>
            <a:pPr marL="0" indent="0">
              <a:buNone/>
            </a:pPr>
            <a:endParaRPr lang="en-IN" sz="24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326960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176F-42C3-AA27-3025-2259718DE7CE}"/>
              </a:ext>
            </a:extLst>
          </p:cNvPr>
          <p:cNvSpPr>
            <a:spLocks noGrp="1"/>
          </p:cNvSpPr>
          <p:nvPr>
            <p:ph type="title"/>
          </p:nvPr>
        </p:nvSpPr>
        <p:spPr>
          <a:xfrm flipV="1">
            <a:off x="838200" y="-772160"/>
            <a:ext cx="10515600" cy="24384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6F757AE-9C3E-EBC4-A166-A358FBDDC272}"/>
              </a:ext>
            </a:extLst>
          </p:cNvPr>
          <p:cNvSpPr>
            <a:spLocks noGrp="1"/>
          </p:cNvSpPr>
          <p:nvPr>
            <p:ph idx="1"/>
          </p:nvPr>
        </p:nvSpPr>
        <p:spPr>
          <a:xfrm>
            <a:off x="838200" y="314960"/>
            <a:ext cx="10515600" cy="5862003"/>
          </a:xfrm>
        </p:spPr>
        <p:txBody>
          <a:bodyPr/>
          <a:lstStyle/>
          <a:p>
            <a:pPr marL="0" indent="0">
              <a:buNone/>
            </a:pPr>
            <a:r>
              <a:rPr lang="en-US" dirty="0">
                <a:latin typeface="Andalus" panose="02020603050405020304" pitchFamily="18" charset="-78"/>
                <a:cs typeface="Andalus" panose="02020603050405020304" pitchFamily="18" charset="-78"/>
              </a:rPr>
              <a:t>3. DRAG-</a:t>
            </a:r>
          </a:p>
          <a:p>
            <a:pPr marL="0" indent="0">
              <a:buNone/>
            </a:pPr>
            <a:r>
              <a:rPr lang="en-IN" sz="2400" dirty="0">
                <a:latin typeface="Andalus" panose="02020603050405020304" pitchFamily="18" charset="-78"/>
                <a:cs typeface="Andalus" panose="02020603050405020304" pitchFamily="18" charset="-78"/>
              </a:rPr>
              <a:t>Drag is the aerodynamic force opposing motion, acting parallel to the airflow.</a:t>
            </a:r>
          </a:p>
          <a:p>
            <a:pPr marL="0" indent="0">
              <a:buNone/>
            </a:pPr>
            <a:r>
              <a:rPr lang="en-IN" sz="2400" dirty="0">
                <a:latin typeface="Andalus" panose="02020603050405020304" pitchFamily="18" charset="-78"/>
                <a:cs typeface="Andalus" panose="02020603050405020304" pitchFamily="18" charset="-78"/>
              </a:rPr>
              <a:t>a. Skin friction drag – </a:t>
            </a:r>
          </a:p>
          <a:p>
            <a:pPr marL="0" indent="0">
              <a:buNone/>
            </a:pPr>
            <a:r>
              <a:rPr lang="en-IN" sz="2400" dirty="0">
                <a:latin typeface="Andalus" panose="02020603050405020304" pitchFamily="18" charset="-78"/>
                <a:cs typeface="Andalus" panose="02020603050405020304" pitchFamily="18" charset="-78"/>
              </a:rPr>
              <a:t>Due to viscosity and friction on the wing surface (from boundary layer).</a:t>
            </a:r>
          </a:p>
          <a:p>
            <a:pPr marL="0" indent="0">
              <a:buNone/>
            </a:pPr>
            <a:r>
              <a:rPr lang="en-IN" sz="2400" dirty="0">
                <a:latin typeface="Andalus" panose="02020603050405020304" pitchFamily="18" charset="-78"/>
                <a:cs typeface="Andalus" panose="02020603050405020304" pitchFamily="18" charset="-78"/>
              </a:rPr>
              <a:t>b. Pressure drag-</a:t>
            </a:r>
          </a:p>
          <a:p>
            <a:pPr marL="0" indent="0">
              <a:buNone/>
            </a:pPr>
            <a:r>
              <a:rPr lang="en-IN" sz="2400" dirty="0">
                <a:latin typeface="Andalus" panose="02020603050405020304" pitchFamily="18" charset="-78"/>
                <a:cs typeface="Andalus" panose="02020603050405020304" pitchFamily="18" charset="-78"/>
              </a:rPr>
              <a:t>Due to separated flow creating a low pressure wake behind the wing.</a:t>
            </a:r>
          </a:p>
          <a:p>
            <a:pPr marL="0" indent="0">
              <a:buNone/>
            </a:pPr>
            <a:r>
              <a:rPr lang="en-IN" dirty="0">
                <a:latin typeface="Andalus" panose="02020603050405020304" pitchFamily="18" charset="-78"/>
                <a:cs typeface="Andalus" panose="02020603050405020304" pitchFamily="18" charset="-78"/>
              </a:rPr>
              <a:t>EFFECT OF FLOW SEPERATION – </a:t>
            </a:r>
          </a:p>
          <a:p>
            <a:pPr marL="0" indent="0">
              <a:buNone/>
            </a:pPr>
            <a:r>
              <a:rPr lang="en-IN" sz="2400" dirty="0">
                <a:latin typeface="Andalus" panose="02020603050405020304" pitchFamily="18" charset="-78"/>
                <a:cs typeface="Andalus" panose="02020603050405020304" pitchFamily="18" charset="-78"/>
              </a:rPr>
              <a:t>The wake behind the wing grows larger.</a:t>
            </a:r>
          </a:p>
          <a:p>
            <a:pPr marL="0" indent="0">
              <a:buNone/>
            </a:pPr>
            <a:r>
              <a:rPr lang="en-IN" sz="2400" dirty="0">
                <a:latin typeface="Andalus" panose="02020603050405020304" pitchFamily="18" charset="-78"/>
                <a:cs typeface="Andalus" panose="02020603050405020304" pitchFamily="18" charset="-78"/>
              </a:rPr>
              <a:t>Pressure drag increases sharply.</a:t>
            </a:r>
          </a:p>
          <a:p>
            <a:pPr marL="0" indent="0">
              <a:buNone/>
            </a:pPr>
            <a:r>
              <a:rPr lang="en-IN" sz="2400" dirty="0">
                <a:latin typeface="Andalus" panose="02020603050405020304" pitchFamily="18" charset="-78"/>
                <a:cs typeface="Andalus" panose="02020603050405020304" pitchFamily="18" charset="-78"/>
              </a:rPr>
              <a:t>Total drag becomes much higher.</a:t>
            </a:r>
          </a:p>
          <a:p>
            <a:pPr marL="0" indent="0">
              <a:buNone/>
            </a:pPr>
            <a:endParaRPr lang="en-IN" sz="24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475884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56EF-44C2-4DB7-0850-3CA156D28511}"/>
              </a:ext>
            </a:extLst>
          </p:cNvPr>
          <p:cNvSpPr>
            <a:spLocks noGrp="1"/>
          </p:cNvSpPr>
          <p:nvPr>
            <p:ph type="title"/>
          </p:nvPr>
        </p:nvSpPr>
        <p:spPr>
          <a:xfrm>
            <a:off x="838200" y="365125"/>
            <a:ext cx="10515600" cy="787019"/>
          </a:xfrm>
        </p:spPr>
        <p:txBody>
          <a:bodyPr/>
          <a:lstStyle/>
          <a:p>
            <a:r>
              <a:rPr lang="en-US" dirty="0">
                <a:latin typeface="Andalus" panose="02020603050405020304" pitchFamily="18" charset="-78"/>
                <a:cs typeface="Andalus" panose="02020603050405020304" pitchFamily="18" charset="-78"/>
              </a:rPr>
              <a:t>Important terms-</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FC733094-07AA-A2EC-1FA8-B014E5418D77}"/>
              </a:ext>
            </a:extLst>
          </p:cNvPr>
          <p:cNvSpPr>
            <a:spLocks noGrp="1"/>
          </p:cNvSpPr>
          <p:nvPr>
            <p:ph idx="1"/>
          </p:nvPr>
        </p:nvSpPr>
        <p:spPr>
          <a:xfrm>
            <a:off x="838200" y="1152144"/>
            <a:ext cx="10515600" cy="5024819"/>
          </a:xfrm>
        </p:spPr>
        <p:txBody>
          <a:bodyPr/>
          <a:lstStyle/>
          <a:p>
            <a:r>
              <a:rPr lang="en-US" dirty="0">
                <a:latin typeface="Andalus" panose="02020603050405020304" pitchFamily="18" charset="-78"/>
                <a:cs typeface="Andalus" panose="02020603050405020304" pitchFamily="18" charset="-78"/>
              </a:rPr>
              <a:t>Vortex Generators - </a:t>
            </a:r>
            <a:r>
              <a:rPr lang="en-US" sz="2400" dirty="0">
                <a:latin typeface="Andalus" panose="02020603050405020304" pitchFamily="18" charset="-78"/>
                <a:cs typeface="Andalus" panose="02020603050405020304" pitchFamily="18" charset="-78"/>
              </a:rPr>
              <a:t>A vortex generator is a small, fin-like aerodynamic device placed on the surface of a wing (or any body in airflow) that creates controlled swirling motion (vortices) in the airflow.</a:t>
            </a:r>
          </a:p>
          <a:p>
            <a:r>
              <a:rPr lang="en-US" dirty="0">
                <a:latin typeface="Andalus" panose="02020603050405020304" pitchFamily="18" charset="-78"/>
                <a:cs typeface="Andalus" panose="02020603050405020304" pitchFamily="18" charset="-78"/>
              </a:rPr>
              <a:t>Angle of attack (AoA) – </a:t>
            </a:r>
            <a:r>
              <a:rPr lang="en-US" sz="2400" dirty="0">
                <a:latin typeface="Andalus" panose="02020603050405020304" pitchFamily="18" charset="-78"/>
                <a:cs typeface="Andalus" panose="02020603050405020304" pitchFamily="18" charset="-78"/>
              </a:rPr>
              <a:t>The angle between the chord line of the wing and the direction of the oncoming airflow (relative wind).</a:t>
            </a:r>
            <a:endParaRPr lang="en-US" dirty="0">
              <a:latin typeface="Andalus" panose="02020603050405020304" pitchFamily="18" charset="-78"/>
              <a:cs typeface="Andalus" panose="02020603050405020304" pitchFamily="18" charset="-78"/>
            </a:endParaRPr>
          </a:p>
          <a:p>
            <a:r>
              <a:rPr lang="en-US" dirty="0">
                <a:latin typeface="Andalus" panose="02020603050405020304" pitchFamily="18" charset="-78"/>
                <a:cs typeface="Andalus" panose="02020603050405020304" pitchFamily="18" charset="-78"/>
              </a:rPr>
              <a:t>Stall – </a:t>
            </a:r>
            <a:r>
              <a:rPr lang="en-US" sz="2400" dirty="0">
                <a:latin typeface="Andalus" panose="02020603050405020304" pitchFamily="18" charset="-78"/>
                <a:cs typeface="Andalus" panose="02020603050405020304" pitchFamily="18" charset="-78"/>
              </a:rPr>
              <a:t>A stall occurs when the AoA (Angle of attack) of a wing increases beyond a critical value such that the smooth airflow separates from the upper surface of the wing, causing a sudden loss of lift and a sharp increase in drag.</a:t>
            </a:r>
          </a:p>
          <a:p>
            <a:r>
              <a:rPr lang="en-US" dirty="0">
                <a:latin typeface="Andalus" panose="02020603050405020304" pitchFamily="18" charset="-78"/>
                <a:cs typeface="Andalus" panose="02020603050405020304" pitchFamily="18" charset="-78"/>
              </a:rPr>
              <a:t>Wake – </a:t>
            </a:r>
            <a:r>
              <a:rPr lang="en-US" sz="2400" dirty="0">
                <a:latin typeface="Andalus" panose="02020603050405020304" pitchFamily="18" charset="-78"/>
                <a:cs typeface="Andalus" panose="02020603050405020304" pitchFamily="18" charset="-78"/>
              </a:rPr>
              <a:t>The wake is the region of disturbed, turbulent, low energy airflow that forms behind an object as air flows around it.</a:t>
            </a:r>
            <a:endParaRPr lang="en-US" dirty="0">
              <a:latin typeface="Andalus" panose="02020603050405020304" pitchFamily="18" charset="-78"/>
              <a:cs typeface="Andalus" panose="02020603050405020304" pitchFamily="18" charset="-78"/>
            </a:endParaRPr>
          </a:p>
          <a:p>
            <a:endParaRPr lang="en-IN" sz="24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668689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BF864-A580-187D-986D-883AD26B8748}"/>
              </a:ext>
            </a:extLst>
          </p:cNvPr>
          <p:cNvSpPr>
            <a:spLocks noGrp="1"/>
          </p:cNvSpPr>
          <p:nvPr>
            <p:ph type="title"/>
          </p:nvPr>
        </p:nvSpPr>
        <p:spPr>
          <a:xfrm>
            <a:off x="838200" y="365125"/>
            <a:ext cx="10515600" cy="704723"/>
          </a:xfrm>
        </p:spPr>
        <p:txBody>
          <a:bodyPr>
            <a:normAutofit/>
          </a:bodyPr>
          <a:lstStyle/>
          <a:p>
            <a:r>
              <a:rPr lang="en-US" sz="3600" dirty="0">
                <a:latin typeface="Andalus" panose="02020603050405020304" pitchFamily="18" charset="-78"/>
                <a:cs typeface="Andalus" panose="02020603050405020304" pitchFamily="18" charset="-78"/>
              </a:rPr>
              <a:t>Materials required - </a:t>
            </a:r>
            <a:endParaRPr lang="en-IN" sz="3600"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3B84CB12-0817-3F68-45B4-BB65158C411D}"/>
              </a:ext>
            </a:extLst>
          </p:cNvPr>
          <p:cNvSpPr>
            <a:spLocks noGrp="1"/>
          </p:cNvSpPr>
          <p:nvPr>
            <p:ph idx="1"/>
          </p:nvPr>
        </p:nvSpPr>
        <p:spPr>
          <a:xfrm>
            <a:off x="838200" y="1161288"/>
            <a:ext cx="10515600" cy="5015675"/>
          </a:xfrm>
        </p:spPr>
        <p:txBody>
          <a:bodyPr/>
          <a:lstStyle/>
          <a:p>
            <a:pPr marL="0" indent="0">
              <a:buNone/>
            </a:pPr>
            <a:endParaRPr lang="en-US" dirty="0">
              <a:latin typeface="Andalus" panose="02020603050405020304" pitchFamily="18" charset="-78"/>
              <a:cs typeface="Andalus" panose="02020603050405020304" pitchFamily="18" charset="-78"/>
            </a:endParaRPr>
          </a:p>
          <a:p>
            <a:pPr marL="514350" indent="-514350">
              <a:buAutoNum type="arabicPeriod"/>
            </a:pPr>
            <a:r>
              <a:rPr lang="en-US" dirty="0">
                <a:latin typeface="Andalus" panose="02020603050405020304" pitchFamily="18" charset="-78"/>
                <a:cs typeface="Andalus" panose="02020603050405020304" pitchFamily="18" charset="-78"/>
              </a:rPr>
              <a:t>Cardboard</a:t>
            </a:r>
          </a:p>
          <a:p>
            <a:pPr marL="514350" indent="-514350">
              <a:buAutoNum type="arabicPeriod"/>
            </a:pPr>
            <a:r>
              <a:rPr lang="en-US" dirty="0">
                <a:latin typeface="Andalus" panose="02020603050405020304" pitchFamily="18" charset="-78"/>
                <a:cs typeface="Andalus" panose="02020603050405020304" pitchFamily="18" charset="-78"/>
              </a:rPr>
              <a:t>Stand</a:t>
            </a:r>
          </a:p>
          <a:p>
            <a:pPr marL="514350" indent="-514350">
              <a:buAutoNum type="arabicPeriod"/>
            </a:pPr>
            <a:r>
              <a:rPr lang="en-US" dirty="0">
                <a:latin typeface="Andalus" panose="02020603050405020304" pitchFamily="18" charset="-78"/>
                <a:cs typeface="Andalus" panose="02020603050405020304" pitchFamily="18" charset="-78"/>
              </a:rPr>
              <a:t>Ruler and protractor</a:t>
            </a:r>
          </a:p>
          <a:p>
            <a:pPr marL="514350" indent="-514350">
              <a:buAutoNum type="arabicPeriod"/>
            </a:pPr>
            <a:r>
              <a:rPr lang="en-US" dirty="0">
                <a:latin typeface="Andalus" panose="02020603050405020304" pitchFamily="18" charset="-78"/>
                <a:cs typeface="Andalus" panose="02020603050405020304" pitchFamily="18" charset="-78"/>
              </a:rPr>
              <a:t>Thread</a:t>
            </a:r>
          </a:p>
          <a:p>
            <a:pPr marL="514350" indent="-514350">
              <a:buAutoNum type="arabicPeriod"/>
            </a:pPr>
            <a:r>
              <a:rPr lang="en-US" dirty="0">
                <a:latin typeface="Andalus" panose="02020603050405020304" pitchFamily="18" charset="-78"/>
                <a:cs typeface="Andalus" panose="02020603050405020304" pitchFamily="18" charset="-78"/>
              </a:rPr>
              <a:t>Hard paper</a:t>
            </a:r>
          </a:p>
          <a:p>
            <a:pPr marL="514350" indent="-514350">
              <a:buAutoNum type="arabicPeriod"/>
            </a:pPr>
            <a:r>
              <a:rPr lang="en-US" dirty="0">
                <a:latin typeface="Andalus" panose="02020603050405020304" pitchFamily="18" charset="-78"/>
                <a:cs typeface="Andalus" panose="02020603050405020304" pitchFamily="18" charset="-78"/>
              </a:rPr>
              <a:t>Source of wind (hair dryer, fan)</a:t>
            </a:r>
          </a:p>
          <a:p>
            <a:pPr marL="514350" indent="-514350">
              <a:buAutoNum type="arabicPeriod"/>
            </a:pPr>
            <a:r>
              <a:rPr lang="en-US" dirty="0">
                <a:latin typeface="Andalus" panose="02020603050405020304" pitchFamily="18" charset="-78"/>
                <a:cs typeface="Andalus" panose="02020603050405020304" pitchFamily="18" charset="-78"/>
              </a:rPr>
              <a:t>Mobile camera (to understand the behavior of the wings).</a:t>
            </a:r>
          </a:p>
          <a:p>
            <a:pPr marL="514350" indent="-514350">
              <a:buAutoNum type="arabicPeriod"/>
            </a:pPr>
            <a:endParaRPr lang="en-IN"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69144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5CCA-5C11-2E99-EF9E-DCFAA53D0528}"/>
              </a:ext>
            </a:extLst>
          </p:cNvPr>
          <p:cNvSpPr>
            <a:spLocks noGrp="1"/>
          </p:cNvSpPr>
          <p:nvPr>
            <p:ph type="title"/>
          </p:nvPr>
        </p:nvSpPr>
        <p:spPr>
          <a:xfrm>
            <a:off x="524256" y="365125"/>
            <a:ext cx="10829544" cy="896747"/>
          </a:xfrm>
        </p:spPr>
        <p:txBody>
          <a:bodyPr>
            <a:normAutofit/>
          </a:bodyPr>
          <a:lstStyle/>
          <a:p>
            <a:r>
              <a:rPr lang="en-US" dirty="0">
                <a:latin typeface="Andalus" panose="02020603050405020304" pitchFamily="18" charset="-78"/>
                <a:cs typeface="Andalus" panose="02020603050405020304" pitchFamily="18" charset="-78"/>
              </a:rPr>
              <a:t>Construction of the model-</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239647B0-B68E-485E-5035-95F38C5D23EB}"/>
              </a:ext>
            </a:extLst>
          </p:cNvPr>
          <p:cNvSpPr>
            <a:spLocks noGrp="1"/>
          </p:cNvSpPr>
          <p:nvPr>
            <p:ph idx="1"/>
          </p:nvPr>
        </p:nvSpPr>
        <p:spPr>
          <a:xfrm>
            <a:off x="530352" y="1261872"/>
            <a:ext cx="11137392" cy="5303520"/>
          </a:xfrm>
        </p:spPr>
        <p:txBody>
          <a:bodyPr>
            <a:normAutofit/>
          </a:bodyPr>
          <a:lstStyle/>
          <a:p>
            <a:r>
              <a:rPr lang="en-US" sz="2600" dirty="0">
                <a:latin typeface="Andalus" panose="02020603050405020304" pitchFamily="18" charset="-78"/>
                <a:cs typeface="Andalus" panose="02020603050405020304" pitchFamily="18" charset="-78"/>
              </a:rPr>
              <a:t>Initially, make the surface using cardboard to be mounted on the stand which will be the base for the wings to be positioned at different angles.</a:t>
            </a:r>
          </a:p>
          <a:p>
            <a:r>
              <a:rPr lang="en-US" sz="2600" dirty="0">
                <a:latin typeface="Andalus" panose="02020603050405020304" pitchFamily="18" charset="-78"/>
                <a:cs typeface="Andalus" panose="02020603050405020304" pitchFamily="18" charset="-78"/>
              </a:rPr>
              <a:t>Make sure that it is positioned geometrically with the stand.</a:t>
            </a:r>
          </a:p>
          <a:p>
            <a:r>
              <a:rPr lang="en-US" sz="2600" dirty="0">
                <a:latin typeface="Andalus" panose="02020603050405020304" pitchFamily="18" charset="-78"/>
                <a:cs typeface="Andalus" panose="02020603050405020304" pitchFamily="18" charset="-78"/>
              </a:rPr>
              <a:t>Now make two wings (for left and right corner) to be attached with the base.</a:t>
            </a:r>
          </a:p>
          <a:p>
            <a:r>
              <a:rPr lang="en-US" sz="2600" dirty="0">
                <a:latin typeface="Andalus" panose="02020603050405020304" pitchFamily="18" charset="-78"/>
                <a:cs typeface="Andalus" panose="02020603050405020304" pitchFamily="18" charset="-78"/>
              </a:rPr>
              <a:t>Install threads at the ends of both the wings which will show the movement to determine the properties such as drag, lift and flow separation.</a:t>
            </a:r>
          </a:p>
          <a:p>
            <a:r>
              <a:rPr lang="en-US" sz="2600" dirty="0">
                <a:latin typeface="Andalus" panose="02020603050405020304" pitchFamily="18" charset="-78"/>
                <a:cs typeface="Andalus" panose="02020603050405020304" pitchFamily="18" charset="-78"/>
              </a:rPr>
              <a:t>In one of the wing (either right or left), install small vortex generators drawn out of hard sheet of paper.</a:t>
            </a:r>
          </a:p>
          <a:p>
            <a:r>
              <a:rPr lang="en-US" sz="2600" dirty="0">
                <a:latin typeface="Andalus" panose="02020603050405020304" pitchFamily="18" charset="-78"/>
                <a:cs typeface="Andalus" panose="02020603050405020304" pitchFamily="18" charset="-78"/>
              </a:rPr>
              <a:t>Attach the VGs in front of the thread and firmly tighten them.</a:t>
            </a:r>
          </a:p>
          <a:p>
            <a:r>
              <a:rPr lang="en-US" sz="2600" dirty="0">
                <a:latin typeface="Andalus" panose="02020603050405020304" pitchFamily="18" charset="-78"/>
                <a:cs typeface="Andalus" panose="02020603050405020304" pitchFamily="18" charset="-78"/>
              </a:rPr>
              <a:t>Mount the base attached with the wings on the stand and fix them firmly.</a:t>
            </a:r>
          </a:p>
          <a:p>
            <a:r>
              <a:rPr lang="en-US" sz="2600" dirty="0">
                <a:latin typeface="Andalus" panose="02020603050405020304" pitchFamily="18" charset="-78"/>
                <a:cs typeface="Andalus" panose="02020603050405020304" pitchFamily="18" charset="-78"/>
              </a:rPr>
              <a:t>By the use of ruler and protractor change the AoA(angle of attack) of the wind by bending the wings.</a:t>
            </a:r>
          </a:p>
          <a:p>
            <a:pPr marL="0" indent="0">
              <a:buNone/>
            </a:pPr>
            <a:endParaRPr lang="en-IN" sz="26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609435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55516-2A10-8C95-C8DC-FABD1776F412}"/>
              </a:ext>
            </a:extLst>
          </p:cNvPr>
          <p:cNvSpPr>
            <a:spLocks noGrp="1"/>
          </p:cNvSpPr>
          <p:nvPr>
            <p:ph type="title"/>
          </p:nvPr>
        </p:nvSpPr>
        <p:spPr>
          <a:xfrm>
            <a:off x="838200" y="73153"/>
            <a:ext cx="10515600" cy="914400"/>
          </a:xfrm>
        </p:spPr>
        <p:txBody>
          <a:bodyPr>
            <a:normAutofit/>
          </a:bodyPr>
          <a:lstStyle/>
          <a:p>
            <a:r>
              <a:rPr lang="en-US" dirty="0">
                <a:latin typeface="Andalus" panose="02020603050405020304" pitchFamily="18" charset="-78"/>
                <a:cs typeface="Andalus" panose="02020603050405020304" pitchFamily="18" charset="-78"/>
              </a:rPr>
              <a:t>MODEL-</a:t>
            </a:r>
            <a:endParaRPr lang="en-IN" dirty="0">
              <a:latin typeface="Andalus" panose="02020603050405020304" pitchFamily="18" charset="-78"/>
              <a:cs typeface="Andalus" panose="02020603050405020304" pitchFamily="18" charset="-78"/>
            </a:endParaRPr>
          </a:p>
        </p:txBody>
      </p:sp>
      <p:pic>
        <p:nvPicPr>
          <p:cNvPr id="5" name="Content Placeholder 4">
            <a:extLst>
              <a:ext uri="{FF2B5EF4-FFF2-40B4-BE49-F238E27FC236}">
                <a16:creationId xmlns:a16="http://schemas.microsoft.com/office/drawing/2014/main" id="{E2A5DB8E-6B4E-1D1E-02C2-7C25F18E2A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2358" y="1206500"/>
            <a:ext cx="6627284" cy="4970463"/>
          </a:xfrm>
        </p:spPr>
      </p:pic>
    </p:spTree>
    <p:extLst>
      <p:ext uri="{BB962C8B-B14F-4D97-AF65-F5344CB8AC3E}">
        <p14:creationId xmlns:p14="http://schemas.microsoft.com/office/powerpoint/2010/main" val="383970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B922-5F3C-E7F5-C6A7-C0C8CA777E22}"/>
              </a:ext>
            </a:extLst>
          </p:cNvPr>
          <p:cNvSpPr>
            <a:spLocks noGrp="1"/>
          </p:cNvSpPr>
          <p:nvPr>
            <p:ph type="title"/>
          </p:nvPr>
        </p:nvSpPr>
        <p:spPr/>
        <p:txBody>
          <a:bodyPr/>
          <a:lstStyle/>
          <a:p>
            <a:r>
              <a:rPr lang="en-US" dirty="0">
                <a:latin typeface="Andalus" panose="02020603050405020304" pitchFamily="18" charset="-78"/>
              </a:rPr>
              <a:t>Important Points for Designing Vortex Generators</a:t>
            </a:r>
          </a:p>
        </p:txBody>
      </p:sp>
      <p:sp>
        <p:nvSpPr>
          <p:cNvPr id="3" name="Content Placeholder 2">
            <a:extLst>
              <a:ext uri="{FF2B5EF4-FFF2-40B4-BE49-F238E27FC236}">
                <a16:creationId xmlns:a16="http://schemas.microsoft.com/office/drawing/2014/main" id="{0B64E2CA-B38C-C2EC-6973-B8AA47A68E10}"/>
              </a:ext>
            </a:extLst>
          </p:cNvPr>
          <p:cNvSpPr>
            <a:spLocks noGrp="1"/>
          </p:cNvSpPr>
          <p:nvPr>
            <p:ph idx="1"/>
          </p:nvPr>
        </p:nvSpPr>
        <p:spPr/>
        <p:txBody>
          <a:bodyPr/>
          <a:lstStyle/>
          <a:p>
            <a:r>
              <a:rPr lang="en-US" dirty="0">
                <a:latin typeface="Andalus" panose="02020603050405020304" pitchFamily="18" charset="-78"/>
              </a:rPr>
              <a:t>Determining the shape of the Vortex Generators.</a:t>
            </a:r>
          </a:p>
          <a:p>
            <a:r>
              <a:rPr lang="en-US" dirty="0">
                <a:latin typeface="Andalus" panose="02020603050405020304" pitchFamily="18" charset="-78"/>
              </a:rPr>
              <a:t>Determining Reynolds Number of Flow.</a:t>
            </a:r>
          </a:p>
          <a:p>
            <a:r>
              <a:rPr lang="en-IN" dirty="0">
                <a:latin typeface="Andalus" panose="02020603050405020304" pitchFamily="18" charset="-78"/>
              </a:rPr>
              <a:t>Determine length of VGs and their location along the chord of your wing.</a:t>
            </a:r>
          </a:p>
          <a:p>
            <a:r>
              <a:rPr lang="en-IN" dirty="0">
                <a:latin typeface="Andalus" panose="02020603050405020304" pitchFamily="18" charset="-78"/>
              </a:rPr>
              <a:t>Determine the height of VGs.</a:t>
            </a:r>
          </a:p>
          <a:p>
            <a:pPr marL="0" indent="0">
              <a:buNone/>
            </a:pPr>
            <a:endParaRPr lang="en-IN" dirty="0"/>
          </a:p>
          <a:p>
            <a:endParaRPr lang="en-US" dirty="0"/>
          </a:p>
        </p:txBody>
      </p:sp>
    </p:spTree>
    <p:extLst>
      <p:ext uri="{BB962C8B-B14F-4D97-AF65-F5344CB8AC3E}">
        <p14:creationId xmlns:p14="http://schemas.microsoft.com/office/powerpoint/2010/main" val="3010592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8CDD90-83A9-C515-8B63-920E5A30D0A5}"/>
              </a:ext>
            </a:extLst>
          </p:cNvPr>
          <p:cNvSpPr txBox="1"/>
          <p:nvPr/>
        </p:nvSpPr>
        <p:spPr>
          <a:xfrm>
            <a:off x="924910" y="378372"/>
            <a:ext cx="11140965" cy="1538883"/>
          </a:xfrm>
          <a:prstGeom prst="rect">
            <a:avLst/>
          </a:prstGeom>
          <a:noFill/>
        </p:spPr>
        <p:txBody>
          <a:bodyPr wrap="square" rtlCol="0">
            <a:spAutoFit/>
          </a:bodyPr>
          <a:lstStyle/>
          <a:p>
            <a:pPr marL="457200" indent="-457200">
              <a:buFont typeface="Wingdings" pitchFamily="2" charset="2"/>
              <a:buChar char="Ø"/>
            </a:pPr>
            <a:r>
              <a:rPr lang="en-US" sz="2800" u="wavyHeavy" dirty="0">
                <a:latin typeface="Andalus" panose="02020603050405020304" pitchFamily="18" charset="-78"/>
              </a:rPr>
              <a:t>Determining</a:t>
            </a:r>
            <a:r>
              <a:rPr lang="en-US" sz="2400" u="wavyHeavy" dirty="0">
                <a:latin typeface="Andalus" panose="02020603050405020304" pitchFamily="18" charset="-78"/>
              </a:rPr>
              <a:t> the shape of the Vortex Generators </a:t>
            </a:r>
            <a:r>
              <a:rPr lang="en-US" sz="2400" u="sng" dirty="0">
                <a:latin typeface="Andalus" panose="02020603050405020304" pitchFamily="18" charset="-78"/>
              </a:rPr>
              <a:t>:</a:t>
            </a:r>
          </a:p>
          <a:p>
            <a:r>
              <a:rPr lang="en-US" sz="2400" dirty="0">
                <a:latin typeface="Andalus" panose="02020603050405020304" pitchFamily="18" charset="-78"/>
              </a:rPr>
              <a:t> </a:t>
            </a:r>
          </a:p>
          <a:p>
            <a:r>
              <a:rPr lang="en-US" sz="2400" dirty="0">
                <a:latin typeface="Andalus" panose="02020603050405020304" pitchFamily="18" charset="-78"/>
              </a:rPr>
              <a:t>       Here we took the shape of a rectangle for our VGs</a:t>
            </a:r>
          </a:p>
          <a:p>
            <a:endParaRPr lang="en-US" dirty="0"/>
          </a:p>
        </p:txBody>
      </p:sp>
      <p:sp>
        <p:nvSpPr>
          <p:cNvPr id="7" name="TextBox 6">
            <a:extLst>
              <a:ext uri="{FF2B5EF4-FFF2-40B4-BE49-F238E27FC236}">
                <a16:creationId xmlns:a16="http://schemas.microsoft.com/office/drawing/2014/main" id="{9BB08607-17A1-D052-B9CB-805FF9A67CB7}"/>
              </a:ext>
            </a:extLst>
          </p:cNvPr>
          <p:cNvSpPr txBox="1"/>
          <p:nvPr/>
        </p:nvSpPr>
        <p:spPr>
          <a:xfrm>
            <a:off x="924910" y="1917255"/>
            <a:ext cx="11140965" cy="1815882"/>
          </a:xfrm>
          <a:prstGeom prst="rect">
            <a:avLst/>
          </a:prstGeom>
          <a:noFill/>
        </p:spPr>
        <p:txBody>
          <a:bodyPr wrap="square" rtlCol="0">
            <a:spAutoFit/>
          </a:bodyPr>
          <a:lstStyle/>
          <a:p>
            <a:pPr marL="457200" indent="-457200">
              <a:buFont typeface="Wingdings" pitchFamily="2" charset="2"/>
              <a:buChar char="Ø"/>
            </a:pPr>
            <a:r>
              <a:rPr lang="en-US" sz="2800" u="wavyHeavy" dirty="0">
                <a:latin typeface="Andalus" panose="02020603050405020304" pitchFamily="18" charset="-78"/>
              </a:rPr>
              <a:t>Determining Reynolds Number of Flow </a:t>
            </a:r>
            <a:r>
              <a:rPr lang="en-US" sz="2800" u="wavyHeavy" dirty="0"/>
              <a:t>:</a:t>
            </a:r>
          </a:p>
          <a:p>
            <a:r>
              <a:rPr lang="en-US" sz="2800" dirty="0"/>
              <a:t>  </a:t>
            </a:r>
          </a:p>
          <a:p>
            <a:r>
              <a:rPr lang="en-US" sz="2800" dirty="0"/>
              <a:t>     </a:t>
            </a:r>
            <a:r>
              <a:rPr lang="en-IN" sz="2400" dirty="0">
                <a:latin typeface="Andalus" panose="02020603050405020304" pitchFamily="18" charset="-78"/>
              </a:rPr>
              <a:t>While designing the VGs we need to determine what Reynolds Number we will be</a:t>
            </a:r>
          </a:p>
          <a:p>
            <a:r>
              <a:rPr lang="en-IN" sz="2400" dirty="0">
                <a:latin typeface="Andalus" panose="02020603050405020304" pitchFamily="18" charset="-78"/>
              </a:rPr>
              <a:t>      operating at through this equation.</a:t>
            </a:r>
            <a:endParaRPr lang="en-US" sz="2800" dirty="0">
              <a:latin typeface="Andalus" panose="02020603050405020304" pitchFamily="18" charset="-78"/>
            </a:endParaRPr>
          </a:p>
        </p:txBody>
      </p:sp>
      <p:pic>
        <p:nvPicPr>
          <p:cNvPr id="1026" name="Picture 2">
            <a:extLst>
              <a:ext uri="{FF2B5EF4-FFF2-40B4-BE49-F238E27FC236}">
                <a16:creationId xmlns:a16="http://schemas.microsoft.com/office/drawing/2014/main" id="{CF79174B-CD88-963D-15BA-97AB2EA61D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393" y="3733137"/>
            <a:ext cx="7285826" cy="1809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5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C31947-73A6-F429-68C9-C506A6DA2157}"/>
              </a:ext>
            </a:extLst>
          </p:cNvPr>
          <p:cNvSpPr txBox="1"/>
          <p:nvPr/>
        </p:nvSpPr>
        <p:spPr>
          <a:xfrm>
            <a:off x="654627" y="342900"/>
            <a:ext cx="11419609" cy="800219"/>
          </a:xfrm>
          <a:prstGeom prst="rect">
            <a:avLst/>
          </a:prstGeom>
          <a:noFill/>
        </p:spPr>
        <p:txBody>
          <a:bodyPr wrap="square" rtlCol="0">
            <a:spAutoFit/>
          </a:bodyPr>
          <a:lstStyle/>
          <a:p>
            <a:pPr marL="457200" indent="-457200">
              <a:buFont typeface="Wingdings" pitchFamily="2" charset="2"/>
              <a:buChar char="Ø"/>
            </a:pPr>
            <a:r>
              <a:rPr lang="en-IN" sz="2800" u="wavyHeavy" dirty="0">
                <a:latin typeface="Andalus" panose="02020603050405020304" pitchFamily="18" charset="-78"/>
              </a:rPr>
              <a:t>Determine length of VGs and their location along the chord of your wing.</a:t>
            </a:r>
            <a:endParaRPr lang="en-IN" dirty="0">
              <a:latin typeface="Andalus" panose="02020603050405020304" pitchFamily="18" charset="-78"/>
            </a:endParaRPr>
          </a:p>
          <a:p>
            <a:endParaRPr lang="en-US" dirty="0"/>
          </a:p>
        </p:txBody>
      </p:sp>
      <p:sp>
        <p:nvSpPr>
          <p:cNvPr id="4" name="TextBox 3">
            <a:extLst>
              <a:ext uri="{FF2B5EF4-FFF2-40B4-BE49-F238E27FC236}">
                <a16:creationId xmlns:a16="http://schemas.microsoft.com/office/drawing/2014/main" id="{18357DA7-4552-7E9B-145C-372528502387}"/>
              </a:ext>
            </a:extLst>
          </p:cNvPr>
          <p:cNvSpPr txBox="1"/>
          <p:nvPr/>
        </p:nvSpPr>
        <p:spPr>
          <a:xfrm>
            <a:off x="800100" y="1070264"/>
            <a:ext cx="11274136" cy="2677656"/>
          </a:xfrm>
          <a:prstGeom prst="rect">
            <a:avLst/>
          </a:prstGeom>
          <a:noFill/>
        </p:spPr>
        <p:txBody>
          <a:bodyPr wrap="square" rtlCol="0">
            <a:spAutoFit/>
          </a:bodyPr>
          <a:lstStyle/>
          <a:p>
            <a:pPr marL="342900" indent="-342900">
              <a:buFont typeface="Wingdings" pitchFamily="2" charset="2"/>
              <a:buChar char="v"/>
            </a:pPr>
            <a:r>
              <a:rPr lang="en-IN" sz="2400" dirty="0">
                <a:latin typeface="Andalus" panose="02020603050405020304" pitchFamily="18" charset="-78"/>
              </a:rPr>
              <a:t> Next we will need to determine the length of the VGs and where along the chord of </a:t>
            </a:r>
          </a:p>
          <a:p>
            <a:r>
              <a:rPr lang="en-IN" sz="2400" dirty="0">
                <a:latin typeface="Andalus" panose="02020603050405020304" pitchFamily="18" charset="-78"/>
              </a:rPr>
              <a:t>      the wing VGs will be placed.</a:t>
            </a:r>
            <a:r>
              <a:rPr lang="en-IN" dirty="0">
                <a:latin typeface="Andalus" panose="02020603050405020304" pitchFamily="18" charset="-78"/>
              </a:rPr>
              <a:t> </a:t>
            </a:r>
          </a:p>
          <a:p>
            <a:r>
              <a:rPr lang="en-IN" sz="2400" dirty="0">
                <a:latin typeface="Andalus" panose="02020603050405020304" pitchFamily="18" charset="-78"/>
              </a:rPr>
              <a:t>      The length of our VGs should be around 5-8% of the chord length of the wing as the</a:t>
            </a:r>
          </a:p>
          <a:p>
            <a:r>
              <a:rPr lang="en-IN" sz="2400" dirty="0">
                <a:latin typeface="Andalus" panose="02020603050405020304" pitchFamily="18" charset="-78"/>
              </a:rPr>
              <a:t>      data from different sources suggested for rectangular VGs.</a:t>
            </a:r>
          </a:p>
          <a:p>
            <a:r>
              <a:rPr lang="en-IN" sz="2400" dirty="0">
                <a:latin typeface="Andalus" panose="02020603050405020304" pitchFamily="18" charset="-78"/>
              </a:rPr>
              <a:t>    </a:t>
            </a:r>
          </a:p>
          <a:p>
            <a:pPr marL="342900" indent="-342900">
              <a:buFont typeface="Wingdings" pitchFamily="2" charset="2"/>
              <a:buChar char="v"/>
            </a:pPr>
            <a:r>
              <a:rPr lang="en-IN" sz="2400" dirty="0">
                <a:latin typeface="Andalus" panose="02020603050405020304" pitchFamily="18" charset="-78"/>
              </a:rPr>
              <a:t>  The VGs should be placed just in front of the laminar to turbulent transition of the</a:t>
            </a:r>
          </a:p>
          <a:p>
            <a:r>
              <a:rPr lang="en-IN" sz="2400" dirty="0">
                <a:latin typeface="Andalus" panose="02020603050405020304" pitchFamily="18" charset="-78"/>
              </a:rPr>
              <a:t>       boundary layer on the wing.</a:t>
            </a:r>
            <a:endParaRPr lang="en-US" sz="2400" dirty="0">
              <a:latin typeface="Andalus" panose="02020603050405020304" pitchFamily="18" charset="-78"/>
            </a:endParaRPr>
          </a:p>
        </p:txBody>
      </p:sp>
      <p:sp>
        <p:nvSpPr>
          <p:cNvPr id="6" name="TextBox 5">
            <a:extLst>
              <a:ext uri="{FF2B5EF4-FFF2-40B4-BE49-F238E27FC236}">
                <a16:creationId xmlns:a16="http://schemas.microsoft.com/office/drawing/2014/main" id="{EDBEAB64-C1B6-2951-4759-035533579CE6}"/>
              </a:ext>
            </a:extLst>
          </p:cNvPr>
          <p:cNvSpPr txBox="1"/>
          <p:nvPr/>
        </p:nvSpPr>
        <p:spPr>
          <a:xfrm>
            <a:off x="768927" y="3993931"/>
            <a:ext cx="11419609" cy="2869681"/>
          </a:xfrm>
          <a:prstGeom prst="rect">
            <a:avLst/>
          </a:prstGeom>
          <a:noFill/>
        </p:spPr>
        <p:txBody>
          <a:bodyPr wrap="square" rtlCol="0">
            <a:spAutoFit/>
          </a:bodyPr>
          <a:lstStyle/>
          <a:p>
            <a:pPr marL="457200" indent="-457200">
              <a:buFont typeface="Wingdings" pitchFamily="2" charset="2"/>
              <a:buChar char="Ø"/>
            </a:pPr>
            <a:r>
              <a:rPr lang="en-IN" sz="2800" u="wavyHeavy" dirty="0">
                <a:latin typeface="Andalus" panose="02020603050405020304" pitchFamily="18" charset="-78"/>
              </a:rPr>
              <a:t>Determine the height of VGs :</a:t>
            </a:r>
          </a:p>
          <a:p>
            <a:endParaRPr lang="en-IN" sz="2800" u="wavyHeavy" dirty="0">
              <a:latin typeface="Andalus" panose="02020603050405020304" pitchFamily="18" charset="-78"/>
            </a:endParaRPr>
          </a:p>
          <a:p>
            <a:pPr marL="285750" indent="-285750">
              <a:buFont typeface="Wingdings" pitchFamily="2" charset="2"/>
              <a:buChar char="v"/>
            </a:pPr>
            <a:r>
              <a:rPr lang="en-IN" dirty="0">
                <a:latin typeface="Andalus" panose="02020603050405020304" pitchFamily="18" charset="-78"/>
              </a:rPr>
              <a:t>   </a:t>
            </a:r>
            <a:r>
              <a:rPr lang="en-IN" sz="2400" dirty="0">
                <a:latin typeface="Andalus" panose="02020603050405020304" pitchFamily="18" charset="-78"/>
              </a:rPr>
              <a:t>Next you will want to determine the height of your VGs. </a:t>
            </a:r>
            <a:endParaRPr lang="en-IN" sz="2400" u="wavyHeavy" dirty="0">
              <a:latin typeface="Andalus" panose="02020603050405020304" pitchFamily="18" charset="-78"/>
            </a:endParaRPr>
          </a:p>
          <a:p>
            <a:r>
              <a:rPr lang="en-US" sz="2400" dirty="0">
                <a:latin typeface="Andalus" panose="02020603050405020304" pitchFamily="18" charset="-78"/>
              </a:rPr>
              <a:t>      </a:t>
            </a:r>
            <a:r>
              <a:rPr lang="en-IN" sz="2400" dirty="0">
                <a:latin typeface="Andalus" panose="02020603050405020304" pitchFamily="18" charset="-78"/>
              </a:rPr>
              <a:t>VGs work to control the boundary layer and thus they are most effective inside the </a:t>
            </a:r>
          </a:p>
          <a:p>
            <a:r>
              <a:rPr lang="en-IN" sz="2400" dirty="0">
                <a:latin typeface="Andalus" panose="02020603050405020304" pitchFamily="18" charset="-78"/>
              </a:rPr>
              <a:t>      boundary layer. On larger general aviation aircraft and airliners, VGs typically have a </a:t>
            </a:r>
          </a:p>
          <a:p>
            <a:r>
              <a:rPr lang="en-IN" sz="2400" dirty="0">
                <a:latin typeface="Andalus" panose="02020603050405020304" pitchFamily="18" charset="-78"/>
              </a:rPr>
              <a:t>      height 80% that of the laminar boundary layer right before the laminar to turbulent</a:t>
            </a:r>
          </a:p>
          <a:p>
            <a:r>
              <a:rPr lang="en-IN" sz="2400" dirty="0">
                <a:latin typeface="Andalus" panose="02020603050405020304" pitchFamily="18" charset="-78"/>
              </a:rPr>
              <a:t>      transition point on the wing.</a:t>
            </a:r>
            <a:r>
              <a:rPr lang="en-US" sz="2400" dirty="0">
                <a:latin typeface="Andalus" panose="02020603050405020304" pitchFamily="18" charset="-78"/>
              </a:rPr>
              <a:t> However in this model it will be much smaller.</a:t>
            </a:r>
            <a:endParaRPr lang="en-IN" sz="2400" dirty="0">
              <a:latin typeface="Andalus" panose="02020603050405020304" pitchFamily="18" charset="-78"/>
            </a:endParaRPr>
          </a:p>
        </p:txBody>
      </p:sp>
    </p:spTree>
    <p:extLst>
      <p:ext uri="{BB962C8B-B14F-4D97-AF65-F5344CB8AC3E}">
        <p14:creationId xmlns:p14="http://schemas.microsoft.com/office/powerpoint/2010/main" val="1782330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161AE-AA17-1137-1276-4D989B164114}"/>
              </a:ext>
            </a:extLst>
          </p:cNvPr>
          <p:cNvSpPr txBox="1"/>
          <p:nvPr/>
        </p:nvSpPr>
        <p:spPr>
          <a:xfrm>
            <a:off x="841664" y="446808"/>
            <a:ext cx="11350336" cy="954107"/>
          </a:xfrm>
          <a:prstGeom prst="rect">
            <a:avLst/>
          </a:prstGeom>
          <a:noFill/>
        </p:spPr>
        <p:txBody>
          <a:bodyPr wrap="square" rtlCol="0">
            <a:spAutoFit/>
          </a:bodyPr>
          <a:lstStyle/>
          <a:p>
            <a:pPr marL="457200" indent="-457200">
              <a:buFont typeface="Wingdings" pitchFamily="2" charset="2"/>
              <a:buChar char="v"/>
            </a:pPr>
            <a:r>
              <a:rPr lang="en-IN" sz="2800" dirty="0">
                <a:latin typeface="Andalus" panose="02020603050405020304" pitchFamily="18" charset="-78"/>
              </a:rPr>
              <a:t>To calculate the height of the laminar boundary layer on the wing before the transition point we can use the following equation below. </a:t>
            </a:r>
            <a:endParaRPr lang="en-US" sz="2800" dirty="0">
              <a:latin typeface="Andalus" panose="02020603050405020304" pitchFamily="18" charset="-78"/>
            </a:endParaRPr>
          </a:p>
        </p:txBody>
      </p:sp>
      <p:pic>
        <p:nvPicPr>
          <p:cNvPr id="2050" name="Picture 2">
            <a:extLst>
              <a:ext uri="{FF2B5EF4-FFF2-40B4-BE49-F238E27FC236}">
                <a16:creationId xmlns:a16="http://schemas.microsoft.com/office/drawing/2014/main" id="{1EE9D675-BC61-4889-1D82-6D199D17FD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r="186" b="-598"/>
          <a:stretch>
            <a:fillRect/>
          </a:stretch>
        </p:blipFill>
        <p:spPr bwMode="auto">
          <a:xfrm>
            <a:off x="482022" y="1596737"/>
            <a:ext cx="10812896" cy="291291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5DAE95F-38A4-05A1-A17A-AF0C9045DC71}"/>
                  </a:ext>
                </a:extLst>
              </p14:cNvPr>
              <p14:cNvContentPartPr/>
              <p14:nvPr/>
            </p14:nvContentPartPr>
            <p14:xfrm>
              <a:off x="7199165" y="3174284"/>
              <a:ext cx="360" cy="211680"/>
            </p14:xfrm>
          </p:contentPart>
        </mc:Choice>
        <mc:Fallback xmlns="">
          <p:pic>
            <p:nvPicPr>
              <p:cNvPr id="3" name="Ink 2">
                <a:extLst>
                  <a:ext uri="{FF2B5EF4-FFF2-40B4-BE49-F238E27FC236}">
                    <a16:creationId xmlns:a16="http://schemas.microsoft.com/office/drawing/2014/main" id="{55DAE95F-38A4-05A1-A17A-AF0C9045DC71}"/>
                  </a:ext>
                </a:extLst>
              </p:cNvPr>
              <p:cNvPicPr/>
              <p:nvPr/>
            </p:nvPicPr>
            <p:blipFill>
              <a:blip r:embed="rId4"/>
              <a:stretch>
                <a:fillRect/>
              </a:stretch>
            </p:blipFill>
            <p:spPr>
              <a:xfrm>
                <a:off x="7136165" y="3111644"/>
                <a:ext cx="126000" cy="337320"/>
              </a:xfrm>
              <a:prstGeom prst="rect">
                <a:avLst/>
              </a:prstGeom>
            </p:spPr>
          </p:pic>
        </mc:Fallback>
      </mc:AlternateContent>
      <p:grpSp>
        <p:nvGrpSpPr>
          <p:cNvPr id="11" name="Group 10">
            <a:extLst>
              <a:ext uri="{FF2B5EF4-FFF2-40B4-BE49-F238E27FC236}">
                <a16:creationId xmlns:a16="http://schemas.microsoft.com/office/drawing/2014/main" id="{07715655-6EEF-5027-0B33-DF9EF4F8D875}"/>
              </a:ext>
            </a:extLst>
          </p:cNvPr>
          <p:cNvGrpSpPr/>
          <p:nvPr/>
        </p:nvGrpSpPr>
        <p:grpSpPr>
          <a:xfrm>
            <a:off x="7287218" y="3055184"/>
            <a:ext cx="2330640" cy="390960"/>
            <a:chOff x="7287218" y="3055184"/>
            <a:chExt cx="2330640" cy="39096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2C8635F8-510F-8DD4-1D20-C4B79D588DE2}"/>
                    </a:ext>
                  </a:extLst>
                </p14:cNvPr>
                <p14:cNvContentPartPr/>
                <p14:nvPr/>
              </p14:nvContentPartPr>
              <p14:xfrm>
                <a:off x="7287218" y="3055184"/>
                <a:ext cx="1889640" cy="374400"/>
              </p14:xfrm>
            </p:contentPart>
          </mc:Choice>
          <mc:Fallback xmlns="">
            <p:pic>
              <p:nvPicPr>
                <p:cNvPr id="5" name="Ink 4">
                  <a:extLst>
                    <a:ext uri="{FF2B5EF4-FFF2-40B4-BE49-F238E27FC236}">
                      <a16:creationId xmlns:a16="http://schemas.microsoft.com/office/drawing/2014/main" id="{2C8635F8-510F-8DD4-1D20-C4B79D588DE2}"/>
                    </a:ext>
                  </a:extLst>
                </p:cNvPr>
                <p:cNvPicPr/>
                <p:nvPr/>
              </p:nvPicPr>
              <p:blipFill>
                <a:blip r:embed="rId6"/>
                <a:stretch>
                  <a:fillRect/>
                </a:stretch>
              </p:blipFill>
              <p:spPr>
                <a:xfrm>
                  <a:off x="7224218" y="2992544"/>
                  <a:ext cx="2015280" cy="500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2CC25A6-385D-D63C-9003-305650DC8D89}"/>
                    </a:ext>
                  </a:extLst>
                </p14:cNvPr>
                <p14:cNvContentPartPr/>
                <p14:nvPr/>
              </p14:nvContentPartPr>
              <p14:xfrm>
                <a:off x="9312578" y="3229064"/>
                <a:ext cx="305280" cy="217080"/>
              </p14:xfrm>
            </p:contentPart>
          </mc:Choice>
          <mc:Fallback xmlns="">
            <p:pic>
              <p:nvPicPr>
                <p:cNvPr id="6" name="Ink 5">
                  <a:extLst>
                    <a:ext uri="{FF2B5EF4-FFF2-40B4-BE49-F238E27FC236}">
                      <a16:creationId xmlns:a16="http://schemas.microsoft.com/office/drawing/2014/main" id="{C2CC25A6-385D-D63C-9003-305650DC8D89}"/>
                    </a:ext>
                  </a:extLst>
                </p:cNvPr>
                <p:cNvPicPr/>
                <p:nvPr/>
              </p:nvPicPr>
              <p:blipFill>
                <a:blip r:embed="rId8"/>
                <a:stretch>
                  <a:fillRect/>
                </a:stretch>
              </p:blipFill>
              <p:spPr>
                <a:xfrm>
                  <a:off x="9249578" y="3166064"/>
                  <a:ext cx="43092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AC297B3C-8F73-1B5C-912B-92BB643CC726}"/>
                    </a:ext>
                  </a:extLst>
                </p14:cNvPr>
                <p14:cNvContentPartPr/>
                <p14:nvPr/>
              </p14:nvContentPartPr>
              <p14:xfrm>
                <a:off x="8172098" y="3126824"/>
                <a:ext cx="1417680" cy="188280"/>
              </p14:xfrm>
            </p:contentPart>
          </mc:Choice>
          <mc:Fallback xmlns="">
            <p:pic>
              <p:nvPicPr>
                <p:cNvPr id="9" name="Ink 8">
                  <a:extLst>
                    <a:ext uri="{FF2B5EF4-FFF2-40B4-BE49-F238E27FC236}">
                      <a16:creationId xmlns:a16="http://schemas.microsoft.com/office/drawing/2014/main" id="{AC297B3C-8F73-1B5C-912B-92BB643CC726}"/>
                    </a:ext>
                  </a:extLst>
                </p:cNvPr>
                <p:cNvPicPr/>
                <p:nvPr/>
              </p:nvPicPr>
              <p:blipFill>
                <a:blip r:embed="rId10"/>
                <a:stretch>
                  <a:fillRect/>
                </a:stretch>
              </p:blipFill>
              <p:spPr>
                <a:xfrm>
                  <a:off x="8109098" y="3063824"/>
                  <a:ext cx="1543320" cy="313920"/>
                </a:xfrm>
                <a:prstGeom prst="rect">
                  <a:avLst/>
                </a:prstGeom>
              </p:spPr>
            </p:pic>
          </mc:Fallback>
        </mc:AlternateContent>
      </p:grpSp>
    </p:spTree>
    <p:extLst>
      <p:ext uri="{BB962C8B-B14F-4D97-AF65-F5344CB8AC3E}">
        <p14:creationId xmlns:p14="http://schemas.microsoft.com/office/powerpoint/2010/main" val="3666065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8D39-EC6C-4E51-4824-EEEA2500B94D}"/>
              </a:ext>
            </a:extLst>
          </p:cNvPr>
          <p:cNvSpPr>
            <a:spLocks noGrp="1"/>
          </p:cNvSpPr>
          <p:nvPr>
            <p:ph type="title"/>
          </p:nvPr>
        </p:nvSpPr>
        <p:spPr>
          <a:xfrm>
            <a:off x="838200" y="365125"/>
            <a:ext cx="10308336" cy="759587"/>
          </a:xfrm>
        </p:spPr>
        <p:txBody>
          <a:bodyPr/>
          <a:lstStyle/>
          <a:p>
            <a:r>
              <a:rPr lang="en-US" dirty="0">
                <a:latin typeface="Andalus" panose="02020603050405020304" pitchFamily="18" charset="-78"/>
                <a:cs typeface="Andalus" panose="02020603050405020304" pitchFamily="18" charset="-78"/>
              </a:rPr>
              <a:t>OBSERVATIONS-</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258804DB-9681-A8EB-3276-BE23F297D137}"/>
              </a:ext>
            </a:extLst>
          </p:cNvPr>
          <p:cNvSpPr>
            <a:spLocks noGrp="1"/>
          </p:cNvSpPr>
          <p:nvPr>
            <p:ph idx="1"/>
          </p:nvPr>
        </p:nvSpPr>
        <p:spPr>
          <a:xfrm>
            <a:off x="838200" y="1316736"/>
            <a:ext cx="10515600" cy="5385816"/>
          </a:xfrm>
        </p:spPr>
        <p:txBody>
          <a:bodyPr>
            <a:normAutofit/>
          </a:bodyPr>
          <a:lstStyle/>
          <a:p>
            <a:r>
              <a:rPr lang="en-US" sz="2400" dirty="0">
                <a:latin typeface="Andalus" panose="02020603050405020304" pitchFamily="18" charset="-78"/>
                <a:cs typeface="Andalus" panose="02020603050405020304" pitchFamily="18" charset="-78"/>
              </a:rPr>
              <a:t>The introduction of small vortex generators on the wing surface significantly delayed the onset of flow of separation as seen by a smoother airflow and reduced size of the separated flow region near the trailing edge.</a:t>
            </a:r>
          </a:p>
          <a:p>
            <a:r>
              <a:rPr lang="en-US" sz="2400" dirty="0">
                <a:latin typeface="Andalus" panose="02020603050405020304" pitchFamily="18" charset="-78"/>
                <a:cs typeface="Andalus" panose="02020603050405020304" pitchFamily="18" charset="-78"/>
              </a:rPr>
              <a:t>The paper wings equipped with vortex generators exhibited increased lift at moderate angles of attack compared to wings without generators, confirming the improvement in lift performance stated in the project aim.</a:t>
            </a:r>
          </a:p>
          <a:p>
            <a:r>
              <a:rPr lang="en-US" sz="2400" dirty="0">
                <a:latin typeface="Andalus" panose="02020603050405020304" pitchFamily="18" charset="-78"/>
                <a:cs typeface="Andalus" panose="02020603050405020304" pitchFamily="18" charset="-78"/>
              </a:rPr>
              <a:t>There was a noticeable reduction in drag, particularly post-stall and during higher angles of attack operation, making the wing more efficient aerodynamically.</a:t>
            </a:r>
          </a:p>
          <a:p>
            <a:r>
              <a:rPr lang="en-US" sz="2400" dirty="0">
                <a:latin typeface="Andalus" panose="02020603050405020304" pitchFamily="18" charset="-78"/>
                <a:cs typeface="Andalus" panose="02020603050405020304" pitchFamily="18" charset="-78"/>
              </a:rPr>
              <a:t>Visualization methods (movement of threads) clearly showed that high-momentum air was transported towards the wing surface, resulting in a thinner and more stable boundary layer and a decrease in reversed (separated) flow near critical regions.</a:t>
            </a:r>
          </a:p>
        </p:txBody>
      </p:sp>
    </p:spTree>
    <p:extLst>
      <p:ext uri="{BB962C8B-B14F-4D97-AF65-F5344CB8AC3E}">
        <p14:creationId xmlns:p14="http://schemas.microsoft.com/office/powerpoint/2010/main" val="1270548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466F-4B3C-7177-34D1-8194D0396889}"/>
              </a:ext>
            </a:extLst>
          </p:cNvPr>
          <p:cNvSpPr>
            <a:spLocks noGrp="1"/>
          </p:cNvSpPr>
          <p:nvPr>
            <p:ph type="title"/>
          </p:nvPr>
        </p:nvSpPr>
        <p:spPr>
          <a:xfrm>
            <a:off x="838200" y="1"/>
            <a:ext cx="10515600" cy="1177290"/>
          </a:xfrm>
        </p:spPr>
        <p:txBody>
          <a:bodyPr/>
          <a:lstStyle/>
          <a:p>
            <a:r>
              <a:rPr lang="en-US" dirty="0">
                <a:latin typeface="Andalus" panose="02020603050405020304" pitchFamily="18" charset="-78"/>
                <a:cs typeface="Andalus" panose="02020603050405020304" pitchFamily="18" charset="-78"/>
              </a:rPr>
              <a:t>CONCLUSION-</a:t>
            </a:r>
            <a:endParaRPr lang="en-IN" dirty="0">
              <a:latin typeface="Andalus" panose="02020603050405020304" pitchFamily="18" charset="-78"/>
              <a:cs typeface="Andalus" panose="02020603050405020304" pitchFamily="18" charset="-78"/>
            </a:endParaRPr>
          </a:p>
        </p:txBody>
      </p:sp>
      <p:sp>
        <p:nvSpPr>
          <p:cNvPr id="3" name="Content Placeholder 2">
            <a:extLst>
              <a:ext uri="{FF2B5EF4-FFF2-40B4-BE49-F238E27FC236}">
                <a16:creationId xmlns:a16="http://schemas.microsoft.com/office/drawing/2014/main" id="{CE95797A-5C47-1F85-72A5-B1F92243F261}"/>
              </a:ext>
            </a:extLst>
          </p:cNvPr>
          <p:cNvSpPr>
            <a:spLocks noGrp="1"/>
          </p:cNvSpPr>
          <p:nvPr>
            <p:ph idx="1"/>
          </p:nvPr>
        </p:nvSpPr>
        <p:spPr>
          <a:xfrm>
            <a:off x="560070" y="1040130"/>
            <a:ext cx="10793730" cy="5440680"/>
          </a:xfrm>
        </p:spPr>
        <p:txBody>
          <a:bodyPr>
            <a:normAutofit fontScale="92500" lnSpcReduction="20000"/>
          </a:bodyPr>
          <a:lstStyle/>
          <a:p>
            <a:r>
              <a:rPr lang="en-US" dirty="0">
                <a:latin typeface="Andalus" panose="02020603050405020304" pitchFamily="18" charset="-78"/>
                <a:cs typeface="Andalus" panose="02020603050405020304" pitchFamily="18" charset="-78"/>
              </a:rPr>
              <a:t>The experiment successfully demonstrated the effectiveness of passive flow control using vortex generators on paper wings</a:t>
            </a:r>
          </a:p>
          <a:p>
            <a:r>
              <a:rPr lang="en-US" dirty="0">
                <a:latin typeface="Andalus" panose="02020603050405020304" pitchFamily="18" charset="-78"/>
                <a:cs typeface="Andalus" panose="02020603050405020304" pitchFamily="18" charset="-78"/>
              </a:rPr>
              <a:t>. By introducing small vortex-generating fins along the wing surface, the airflow over the wing was energized, which delayed boundary layer separation and maintained smoother flow over a larger portion of the surface.</a:t>
            </a:r>
          </a:p>
          <a:p>
            <a:r>
              <a:rPr lang="en-US" dirty="0">
                <a:latin typeface="Andalus" panose="02020603050405020304" pitchFamily="18" charset="-78"/>
                <a:cs typeface="Andalus" panose="02020603050405020304" pitchFamily="18" charset="-78"/>
              </a:rPr>
              <a:t>As a result, the wing with vortex generators showed improved lift characteristics, delayed stall, and reduced drag at higher angles of attack when compared to the plain wing.</a:t>
            </a:r>
          </a:p>
          <a:p>
            <a:r>
              <a:rPr lang="en-US" dirty="0">
                <a:latin typeface="Andalus" panose="02020603050405020304" pitchFamily="18" charset="-78"/>
                <a:cs typeface="Andalus" panose="02020603050405020304" pitchFamily="18" charset="-78"/>
              </a:rPr>
              <a:t> The formation of controlled vortices helped in transferring high-energy air into the boundary layer, increasing its momentum and allowing it to overcome adverse pressure gradients.</a:t>
            </a:r>
          </a:p>
          <a:p>
            <a:r>
              <a:rPr lang="en-US" dirty="0">
                <a:latin typeface="Andalus" panose="02020603050405020304" pitchFamily="18" charset="-78"/>
                <a:cs typeface="Andalus" panose="02020603050405020304" pitchFamily="18" charset="-78"/>
              </a:rPr>
              <a:t>This experiment clearly demonstrates the importance of boundary layer control in aerodynamics and how simple passive devices like vortex generators can significantly enhance the aerodynamic efficiency and stability of a wing.</a:t>
            </a:r>
            <a:endParaRPr lang="en-IN"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3126219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4F3F-5F5A-C069-8E9A-58B2BE9384BA}"/>
              </a:ext>
            </a:extLst>
          </p:cNvPr>
          <p:cNvSpPr>
            <a:spLocks noGrp="1"/>
          </p:cNvSpPr>
          <p:nvPr>
            <p:ph type="title"/>
          </p:nvPr>
        </p:nvSpPr>
        <p:spPr/>
        <p:txBody>
          <a:bodyPr/>
          <a:lstStyle/>
          <a:p>
            <a:r>
              <a:rPr lang="en-IN" dirty="0"/>
              <a:t>PROJECT VIDEO LINK:</a:t>
            </a:r>
          </a:p>
        </p:txBody>
      </p:sp>
      <p:sp>
        <p:nvSpPr>
          <p:cNvPr id="3" name="Content Placeholder 2">
            <a:extLst>
              <a:ext uri="{FF2B5EF4-FFF2-40B4-BE49-F238E27FC236}">
                <a16:creationId xmlns:a16="http://schemas.microsoft.com/office/drawing/2014/main" id="{5BD931D5-AFE3-98D6-95E9-CC2BAECB9BF0}"/>
              </a:ext>
            </a:extLst>
          </p:cNvPr>
          <p:cNvSpPr>
            <a:spLocks noGrp="1"/>
          </p:cNvSpPr>
          <p:nvPr>
            <p:ph idx="1"/>
          </p:nvPr>
        </p:nvSpPr>
        <p:spPr/>
        <p:txBody>
          <a:bodyPr/>
          <a:lstStyle/>
          <a:p>
            <a:r>
              <a:rPr lang="en-IN" dirty="0"/>
              <a:t>https://drive.google.com/file/d/1sQ5WG1nPcMwRUgO73fjB9oOtH9dUGSJC/view</a:t>
            </a:r>
          </a:p>
        </p:txBody>
      </p:sp>
    </p:spTree>
    <p:extLst>
      <p:ext uri="{BB962C8B-B14F-4D97-AF65-F5344CB8AC3E}">
        <p14:creationId xmlns:p14="http://schemas.microsoft.com/office/powerpoint/2010/main" val="3236119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1348</Words>
  <Application>Microsoft Office PowerPoint</Application>
  <PresentationFormat>Widescreen</PresentationFormat>
  <Paragraphs>106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Wingdings</vt:lpstr>
      <vt:lpstr>Calibri Light</vt:lpstr>
      <vt:lpstr>Andalus</vt:lpstr>
      <vt:lpstr>Arial</vt:lpstr>
      <vt:lpstr>Office Theme</vt:lpstr>
      <vt:lpstr>Demonstration of Passive Flow Control with Vortex Generators</vt:lpstr>
      <vt:lpstr>AIM OF THE PROJECT - </vt:lpstr>
      <vt:lpstr>OBJECTIVE OF PROJECT-</vt:lpstr>
      <vt:lpstr>PRINCIPLES OF THE PROJECT-</vt:lpstr>
      <vt:lpstr>PowerPoint Presentation</vt:lpstr>
      <vt:lpstr>PowerPoint Presentation</vt:lpstr>
      <vt:lpstr>Important terms-</vt:lpstr>
      <vt:lpstr>Materials required - </vt:lpstr>
      <vt:lpstr>Construction of the model-</vt:lpstr>
      <vt:lpstr>MODEL-</vt:lpstr>
      <vt:lpstr>Important Points for Designing Vortex Generators</vt:lpstr>
      <vt:lpstr>PowerPoint Presentation</vt:lpstr>
      <vt:lpstr>PowerPoint Presentation</vt:lpstr>
      <vt:lpstr>PowerPoint Presentation</vt:lpstr>
      <vt:lpstr>OBSERVATIONS-</vt:lpstr>
      <vt:lpstr>CONCLUSION-</vt:lpstr>
      <vt:lpstr>PROJECT VIDEO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MANSOOR ALAM</dc:creator>
  <cp:lastModifiedBy>USHA KRISH</cp:lastModifiedBy>
  <cp:revision>10</cp:revision>
  <dcterms:created xsi:type="dcterms:W3CDTF">2025-10-26T09:24:16Z</dcterms:created>
  <dcterms:modified xsi:type="dcterms:W3CDTF">2025-10-27T16:57:43Z</dcterms:modified>
</cp:coreProperties>
</file>